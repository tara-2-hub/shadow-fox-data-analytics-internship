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606040" y="1965960"/>
            <a:ext cx="7040880" cy="914400"/>
          </a:xfrm>
          <a:prstGeom prst="rect">
            <a:avLst/>
          </a:prstGeom>
          <a:noFill/>
        </p:spPr>
        <p:txBody>
          <a:bodyPr wrap="none">
            <a:spAutoFit/>
          </a:bodyPr>
          <a:lstStyle/>
          <a:p>
            <a:pPr algn="ctr">
              <a:defRPr sz="4200">
                <a:solidFill>
                  <a:srgbClr val="0A0A0A"/>
                </a:solidFill>
                <a:latin typeface="Arial"/>
              </a:defRPr>
            </a:pPr>
            <a:r>
              <a:t>DATA ANALYTICS</a:t>
            </a:r>
          </a:p>
        </p:txBody>
      </p:sp>
      <p:sp>
        <p:nvSpPr>
          <p:cNvPr id="6" name="TextBox 5"/>
          <p:cNvSpPr txBox="1"/>
          <p:nvPr/>
        </p:nvSpPr>
        <p:spPr>
          <a:xfrm>
            <a:off x="2971800" y="2743200"/>
            <a:ext cx="6309360" cy="1143000"/>
          </a:xfrm>
          <a:prstGeom prst="rect">
            <a:avLst/>
          </a:prstGeom>
          <a:noFill/>
        </p:spPr>
        <p:txBody>
          <a:bodyPr wrap="none">
            <a:spAutoFit/>
          </a:bodyPr>
          <a:lstStyle/>
          <a:p>
            <a:pPr algn="ctr">
              <a:defRPr sz="3400">
                <a:solidFill>
                  <a:srgbClr val="26BEC2"/>
                </a:solidFill>
                <a:latin typeface="Arial"/>
              </a:defRPr>
            </a:pPr>
            <a:r>
              <a:t>Task Presentation</a:t>
            </a:r>
          </a:p>
          <a:p>
            <a:pPr algn="ctr">
              <a:defRPr sz="2000">
                <a:solidFill>
                  <a:srgbClr val="26BEC2"/>
                </a:solidFill>
                <a:latin typeface="Arial"/>
              </a:defRPr>
            </a:pPr>
            <a:r>
              <a:t>Beginner • Intermediate • Advanced</a:t>
            </a:r>
          </a:p>
        </p:txBody>
      </p:sp>
      <p:sp>
        <p:nvSpPr>
          <p:cNvPr id="7" name="TextBox 6"/>
          <p:cNvSpPr txBox="1"/>
          <p:nvPr/>
        </p:nvSpPr>
        <p:spPr>
          <a:xfrm>
            <a:off x="8915400" y="4800600"/>
            <a:ext cx="2057400" cy="914400"/>
          </a:xfrm>
          <a:prstGeom prst="rect">
            <a:avLst/>
          </a:prstGeom>
          <a:noFill/>
        </p:spPr>
        <p:txBody>
          <a:bodyPr wrap="none">
            <a:spAutoFit/>
          </a:bodyPr>
          <a:lstStyle/>
          <a:p>
            <a:pPr>
              <a:defRPr sz="1600">
                <a:solidFill>
                  <a:srgbClr val="26BEC2"/>
                </a:solidFill>
                <a:latin typeface="Arial"/>
              </a:defRPr>
            </a:pPr>
            <a:r>
              <a:t>By:</a:t>
            </a:r>
          </a:p>
          <a:p>
            <a:pPr>
              <a:defRPr sz="1500">
                <a:solidFill>
                  <a:srgbClr val="0A0A0A"/>
                </a:solidFill>
                <a:latin typeface="Arial"/>
              </a:defRPr>
            </a:pPr>
            <a:r>
              <a:t>Tara Bhramaramba</a:t>
            </a:r>
          </a:p>
          <a:p>
            <a:pPr>
              <a:defRPr sz="1400">
                <a:solidFill>
                  <a:srgbClr val="0A0A0A"/>
                </a:solidFill>
                <a:latin typeface="Arial"/>
              </a:defRPr>
            </a:pPr>
            <a:r>
              <a:t>Data Analyst Internship</a:t>
            </a:r>
          </a:p>
          <a:p>
            <a:pPr>
              <a:defRPr sz="1600">
                <a:solidFill>
                  <a:srgbClr val="26BEC2"/>
                </a:solidFill>
                <a:latin typeface="Arial"/>
              </a:defRPr>
            </a:pPr>
            <a:r>
              <a:t>ShadowFox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CONTENTS</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508760"/>
            <a:ext cx="9326880" cy="4389120"/>
          </a:xfrm>
          <a:prstGeom prst="rect">
            <a:avLst/>
          </a:prstGeom>
          <a:noFill/>
        </p:spPr>
        <p:txBody>
          <a:bodyPr wrap="square">
            <a:spAutoFit/>
          </a:bodyPr>
          <a:lstStyle/>
          <a:p>
            <a:pPr>
              <a:spcAft>
                <a:spcPts val="900"/>
              </a:spcAft>
              <a:defRPr sz="1900">
                <a:solidFill>
                  <a:srgbClr val="0A0A0A"/>
                </a:solidFill>
                <a:latin typeface="Arial"/>
              </a:defRPr>
            </a:pPr>
            <a:r>
              <a:t>• 1. Acknowledgement</a:t>
            </a:r>
          </a:p>
          <a:p>
            <a:pPr>
              <a:spcAft>
                <a:spcPts val="900"/>
              </a:spcAft>
              <a:defRPr sz="1900">
                <a:solidFill>
                  <a:srgbClr val="0A0A0A"/>
                </a:solidFill>
                <a:latin typeface="Arial"/>
              </a:defRPr>
            </a:pPr>
            <a:r>
              <a:t>• 2. Beginner Level – Sales Data Visualization &amp; Dashboard</a:t>
            </a:r>
          </a:p>
          <a:p>
            <a:pPr>
              <a:spcAft>
                <a:spcPts val="900"/>
              </a:spcAft>
              <a:defRPr sz="1900">
                <a:solidFill>
                  <a:srgbClr val="0A0A0A"/>
                </a:solidFill>
                <a:latin typeface="Arial"/>
              </a:defRPr>
            </a:pPr>
            <a:r>
              <a:t>• 3. Intermediate Level – Customer &amp; Revenue Analytics</a:t>
            </a:r>
          </a:p>
          <a:p>
            <a:pPr>
              <a:spcAft>
                <a:spcPts val="900"/>
              </a:spcAft>
              <a:defRPr sz="1900">
                <a:solidFill>
                  <a:srgbClr val="0A0A0A"/>
                </a:solidFill>
                <a:latin typeface="Arial"/>
              </a:defRPr>
            </a:pPr>
            <a:r>
              <a:t>• 4. Advanced Level – IBM HR Attrition Analytics</a:t>
            </a:r>
          </a:p>
          <a:p>
            <a:pPr>
              <a:spcAft>
                <a:spcPts val="900"/>
              </a:spcAft>
              <a:defRPr sz="1900">
                <a:solidFill>
                  <a:srgbClr val="0A0A0A"/>
                </a:solidFill>
                <a:latin typeface="Arial"/>
              </a:defRPr>
            </a:pPr>
            <a:r>
              <a:t>• 5. Overall Business Insights &amp; Skills Gained</a:t>
            </a:r>
          </a:p>
          <a:p>
            <a:pPr>
              <a:spcAft>
                <a:spcPts val="900"/>
              </a:spcAft>
              <a:defRPr sz="1900">
                <a:solidFill>
                  <a:srgbClr val="0A0A0A"/>
                </a:solidFill>
                <a:latin typeface="Arial"/>
              </a:defRPr>
            </a:pPr>
            <a:r>
              <a:t>• 6.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ACKNOWLEDGEMENT</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600200"/>
            <a:ext cx="9509760" cy="3840480"/>
          </a:xfrm>
          <a:prstGeom prst="rect">
            <a:avLst/>
          </a:prstGeom>
          <a:noFill/>
        </p:spPr>
        <p:txBody>
          <a:bodyPr wrap="square" lIns="0" rIns="0" tIns="0">
            <a:spAutoFit/>
          </a:bodyPr>
          <a:lstStyle/>
          <a:p>
            <a:pPr>
              <a:spcAft>
                <a:spcPts val="800"/>
              </a:spcAft>
              <a:defRPr sz="1800" b="0">
                <a:solidFill>
                  <a:srgbClr val="0A0A0A"/>
                </a:solidFill>
                <a:latin typeface="Arial"/>
              </a:defRPr>
            </a:pPr>
            <a:r>
              <a:t>I would like to express my gratitude to ShadowFox for providing the opportunity to work on practical data analytics tasks.</a:t>
            </a:r>
          </a:p>
          <a:p>
            <a:pPr>
              <a:spcAft>
                <a:spcPts val="800"/>
              </a:spcAft>
              <a:defRPr sz="1800" b="0">
                <a:solidFill>
                  <a:srgbClr val="0A0A0A"/>
                </a:solidFill>
                <a:latin typeface="Arial"/>
              </a:defRPr>
            </a:pPr>
          </a:p>
          <a:p>
            <a:pPr>
              <a:spcAft>
                <a:spcPts val="800"/>
              </a:spcAft>
              <a:defRPr sz="1800" b="0">
                <a:solidFill>
                  <a:srgbClr val="0A0A0A"/>
                </a:solidFill>
                <a:latin typeface="Arial"/>
              </a:defRPr>
            </a:pPr>
            <a:r>
              <a:t>This presentation summarizes my work across Beginner, Intermediate, and Advanced levels, including data preparation, visualization, KPI development, dashboards, business insights, and recommendations.</a:t>
            </a:r>
          </a:p>
          <a:p>
            <a:pPr>
              <a:spcAft>
                <a:spcPts val="800"/>
              </a:spcAft>
              <a:defRPr sz="1800" b="0">
                <a:solidFill>
                  <a:srgbClr val="0A0A0A"/>
                </a:solidFill>
                <a:latin typeface="Arial"/>
              </a:defRPr>
            </a:pPr>
          </a:p>
          <a:p>
            <a:pPr>
              <a:spcAft>
                <a:spcPts val="800"/>
              </a:spcAft>
              <a:defRPr sz="1800" b="0">
                <a:solidFill>
                  <a:srgbClr val="0A0A0A"/>
                </a:solidFill>
                <a:latin typeface="Arial"/>
              </a:defRPr>
            </a:pPr>
            <a:r>
              <a:t>I also used reference materials and ChatGPT for generating ideas and support during the learning and documentation process.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BEGINNER LEVEL</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9784080" cy="3200400"/>
          </a:xfrm>
          <a:prstGeom prst="rect">
            <a:avLst/>
          </a:prstGeom>
          <a:noFill/>
        </p:spPr>
        <p:txBody>
          <a:bodyPr wrap="square">
            <a:spAutoFit/>
          </a:bodyPr>
          <a:lstStyle/>
          <a:p>
            <a:pPr>
              <a:spcAft>
                <a:spcPts val="900"/>
              </a:spcAft>
              <a:defRPr sz="1800">
                <a:solidFill>
                  <a:srgbClr val="0A0A0A"/>
                </a:solidFill>
                <a:latin typeface="Arial"/>
              </a:defRPr>
            </a:pPr>
            <a:r>
              <a:t>• Project focus: Superstore Sales Data Analysis</a:t>
            </a:r>
          </a:p>
          <a:p>
            <a:pPr>
              <a:spcAft>
                <a:spcPts val="900"/>
              </a:spcAft>
              <a:defRPr sz="1800">
                <a:solidFill>
                  <a:srgbClr val="0A0A0A"/>
                </a:solidFill>
                <a:latin typeface="Arial"/>
              </a:defRPr>
            </a:pPr>
            <a:r>
              <a:t>• Learned the basic analytics workflow: raw data → cleaning → KPIs → charts → dashboard → insights</a:t>
            </a:r>
          </a:p>
          <a:p>
            <a:pPr>
              <a:spcAft>
                <a:spcPts val="900"/>
              </a:spcAft>
              <a:defRPr sz="1800">
                <a:solidFill>
                  <a:srgbClr val="0A0A0A"/>
                </a:solidFill>
                <a:latin typeface="Arial"/>
              </a:defRPr>
            </a:pPr>
            <a:r>
              <a:t>• Created basic business visualizations and KPI cards</a:t>
            </a:r>
          </a:p>
          <a:p>
            <a:pPr>
              <a:spcAft>
                <a:spcPts val="900"/>
              </a:spcAft>
              <a:defRPr sz="1800">
                <a:solidFill>
                  <a:srgbClr val="0A0A0A"/>
                </a:solidFill>
                <a:latin typeface="Arial"/>
              </a:defRPr>
            </a:pPr>
            <a:r>
              <a:t>• Prepared a Tableau-style dashboard and complete report</a:t>
            </a:r>
          </a:p>
        </p:txBody>
      </p:sp>
      <p:sp>
        <p:nvSpPr>
          <p:cNvPr id="10" name="TextBox 9"/>
          <p:cNvSpPr txBox="1"/>
          <p:nvPr/>
        </p:nvSpPr>
        <p:spPr>
          <a:xfrm>
            <a:off x="1097280" y="4800600"/>
            <a:ext cx="9784080" cy="640080"/>
          </a:xfrm>
          <a:prstGeom prst="rect">
            <a:avLst/>
          </a:prstGeom>
          <a:noFill/>
        </p:spPr>
        <p:txBody>
          <a:bodyPr wrap="square" lIns="0" rIns="0" tIns="0">
            <a:spAutoFit/>
          </a:bodyPr>
          <a:lstStyle/>
          <a:p>
            <a:pPr>
              <a:spcAft>
                <a:spcPts val="800"/>
              </a:spcAft>
              <a:defRPr sz="1800" b="1">
                <a:solidFill>
                  <a:srgbClr val="26BEC2"/>
                </a:solidFill>
                <a:latin typeface="Arial"/>
              </a:defRPr>
            </a:pPr>
            <a:r>
              <a:t>Key objective: understand how data can be transformed into clear business information.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4</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BEGINNER – DATASET &amp; DATA CLEANING</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417320"/>
            <a:ext cx="5029200" cy="4389120"/>
          </a:xfrm>
          <a:prstGeom prst="rect">
            <a:avLst/>
          </a:prstGeom>
          <a:noFill/>
        </p:spPr>
        <p:txBody>
          <a:bodyPr wrap="square">
            <a:spAutoFit/>
          </a:bodyPr>
          <a:lstStyle/>
          <a:p>
            <a:pPr>
              <a:spcAft>
                <a:spcPts val="900"/>
              </a:spcAft>
              <a:defRPr sz="1700">
                <a:solidFill>
                  <a:srgbClr val="0A0A0A"/>
                </a:solidFill>
                <a:latin typeface="Arial"/>
              </a:defRPr>
            </a:pPr>
            <a:r>
              <a:t>• Dataset: Superstore sales data</a:t>
            </a:r>
          </a:p>
          <a:p>
            <a:pPr>
              <a:spcAft>
                <a:spcPts val="900"/>
              </a:spcAft>
              <a:defRPr sz="1700">
                <a:solidFill>
                  <a:srgbClr val="0A0A0A"/>
                </a:solidFill>
                <a:latin typeface="Arial"/>
              </a:defRPr>
            </a:pPr>
            <a:r>
              <a:t>• Checked column names and data types</a:t>
            </a:r>
          </a:p>
          <a:p>
            <a:pPr>
              <a:spcAft>
                <a:spcPts val="900"/>
              </a:spcAft>
              <a:defRPr sz="1700">
                <a:solidFill>
                  <a:srgbClr val="0A0A0A"/>
                </a:solidFill>
                <a:latin typeface="Arial"/>
              </a:defRPr>
            </a:pPr>
            <a:r>
              <a:t>• Checked missing values and duplicate records</a:t>
            </a:r>
          </a:p>
          <a:p>
            <a:pPr>
              <a:spcAft>
                <a:spcPts val="900"/>
              </a:spcAft>
              <a:defRPr sz="1700">
                <a:solidFill>
                  <a:srgbClr val="0A0A0A"/>
                </a:solidFill>
                <a:latin typeface="Arial"/>
              </a:defRPr>
            </a:pPr>
            <a:r>
              <a:t>• Standardized data for analysis</a:t>
            </a:r>
          </a:p>
          <a:p>
            <a:pPr>
              <a:spcAft>
                <a:spcPts val="900"/>
              </a:spcAft>
              <a:defRPr sz="1700">
                <a:solidFill>
                  <a:srgbClr val="0A0A0A"/>
                </a:solidFill>
                <a:latin typeface="Arial"/>
              </a:defRPr>
            </a:pPr>
            <a:r>
              <a:t>• Prepared a cleaned dataset for visualization</a:t>
            </a:r>
          </a:p>
        </p:txBody>
      </p:sp>
      <p:sp>
        <p:nvSpPr>
          <p:cNvPr id="10" name="Rounded Rectangle 9"/>
          <p:cNvSpPr/>
          <p:nvPr/>
        </p:nvSpPr>
        <p:spPr>
          <a:xfrm>
            <a:off x="5916168" y="1344168"/>
            <a:ext cx="5266944" cy="458114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eginner_Dashboard_Reference.png"/>
          <p:cNvPicPr>
            <a:picLocks noChangeAspect="1"/>
          </p:cNvPicPr>
          <p:nvPr/>
        </p:nvPicPr>
        <p:blipFill>
          <a:blip r:embed="rId2"/>
          <a:stretch>
            <a:fillRect/>
          </a:stretch>
        </p:blipFill>
        <p:spPr>
          <a:xfrm>
            <a:off x="5989320" y="1417320"/>
            <a:ext cx="5120640" cy="4434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5</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BEGINNER – SALES BY REGION</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82142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ales_by_region.png"/>
          <p:cNvPicPr>
            <a:picLocks noChangeAspect="1"/>
          </p:cNvPicPr>
          <p:nvPr/>
        </p:nvPicPr>
        <p:blipFill>
          <a:blip r:embed="rId2"/>
          <a:stretch>
            <a:fillRect/>
          </a:stretch>
        </p:blipFill>
        <p:spPr>
          <a:xfrm>
            <a:off x="914400" y="1325880"/>
            <a:ext cx="6675120" cy="4800600"/>
          </a:xfrm>
          <a:prstGeom prst="rect">
            <a:avLst/>
          </a:prstGeom>
        </p:spPr>
      </p:pic>
      <p:sp>
        <p:nvSpPr>
          <p:cNvPr id="11" name="TextBox 10"/>
          <p:cNvSpPr txBox="1"/>
          <p:nvPr/>
        </p:nvSpPr>
        <p:spPr>
          <a:xfrm>
            <a:off x="7818120" y="1828800"/>
            <a:ext cx="3017520" cy="2468880"/>
          </a:xfrm>
          <a:prstGeom prst="rect">
            <a:avLst/>
          </a:prstGeom>
          <a:noFill/>
        </p:spPr>
        <p:txBody>
          <a:bodyPr wrap="square" lIns="0" rIns="0" tIns="0">
            <a:spAutoFit/>
          </a:bodyPr>
          <a:lstStyle/>
          <a:p>
            <a:pPr>
              <a:spcAft>
                <a:spcPts val="800"/>
              </a:spcAft>
              <a:defRPr sz="1600" b="0">
                <a:solidFill>
                  <a:srgbClr val="0A0A0A"/>
                </a:solidFill>
                <a:latin typeface="Arial"/>
              </a:defRPr>
            </a:pPr>
            <a:r>
              <a:t>Compares regional sales performance and helps identify stronger and weaker markets.</a:t>
            </a:r>
          </a:p>
        </p:txBody>
      </p:sp>
      <p:sp>
        <p:nvSpPr>
          <p:cNvPr id="12" name="TextBox 11"/>
          <p:cNvSpPr txBox="1"/>
          <p:nvPr/>
        </p:nvSpPr>
        <p:spPr>
          <a:xfrm>
            <a:off x="7818120" y="4160520"/>
            <a:ext cx="2926080" cy="365760"/>
          </a:xfrm>
          <a:prstGeom prst="rect">
            <a:avLst/>
          </a:prstGeom>
          <a:noFill/>
        </p:spPr>
        <p:txBody>
          <a:bodyPr wrap="square" lIns="0" rIns="0" tIns="0">
            <a:spAutoFit/>
          </a:bodyPr>
          <a:lstStyle/>
          <a:p>
            <a:pPr>
              <a:spcAft>
                <a:spcPts val="800"/>
              </a:spcAft>
              <a:defRPr sz="1600" b="1">
                <a:solidFill>
                  <a:srgbClr val="26BEC2"/>
                </a:solidFill>
                <a:latin typeface="Arial"/>
              </a:defRPr>
            </a:pPr>
            <a:r>
              <a:t>Business use</a:t>
            </a:r>
          </a:p>
        </p:txBody>
      </p:sp>
      <p:sp>
        <p:nvSpPr>
          <p:cNvPr id="13" name="TextBox 12"/>
          <p:cNvSpPr txBox="1"/>
          <p:nvPr/>
        </p:nvSpPr>
        <p:spPr>
          <a:xfrm>
            <a:off x="7818120" y="4617720"/>
            <a:ext cx="297180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sales monitoring, comparison and decision-making.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6</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BEGINNER – MONTHLY SALES TREND</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82142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onthly_sales_trend.png"/>
          <p:cNvPicPr>
            <a:picLocks noChangeAspect="1"/>
          </p:cNvPicPr>
          <p:nvPr/>
        </p:nvPicPr>
        <p:blipFill>
          <a:blip r:embed="rId2"/>
          <a:stretch>
            <a:fillRect/>
          </a:stretch>
        </p:blipFill>
        <p:spPr>
          <a:xfrm>
            <a:off x="914400" y="1325880"/>
            <a:ext cx="6675120" cy="4800600"/>
          </a:xfrm>
          <a:prstGeom prst="rect">
            <a:avLst/>
          </a:prstGeom>
        </p:spPr>
      </p:pic>
      <p:sp>
        <p:nvSpPr>
          <p:cNvPr id="11" name="TextBox 10"/>
          <p:cNvSpPr txBox="1"/>
          <p:nvPr/>
        </p:nvSpPr>
        <p:spPr>
          <a:xfrm>
            <a:off x="7818120" y="1828800"/>
            <a:ext cx="3017520" cy="2468880"/>
          </a:xfrm>
          <a:prstGeom prst="rect">
            <a:avLst/>
          </a:prstGeom>
          <a:noFill/>
        </p:spPr>
        <p:txBody>
          <a:bodyPr wrap="square" lIns="0" rIns="0" tIns="0">
            <a:spAutoFit/>
          </a:bodyPr>
          <a:lstStyle/>
          <a:p>
            <a:pPr>
              <a:spcAft>
                <a:spcPts val="800"/>
              </a:spcAft>
              <a:defRPr sz="1600" b="0">
                <a:solidFill>
                  <a:srgbClr val="0A0A0A"/>
                </a:solidFill>
                <a:latin typeface="Arial"/>
              </a:defRPr>
            </a:pPr>
            <a:r>
              <a:t>Shows how sales change over time and helps identify trends and periods of stronger or weaker performance.</a:t>
            </a:r>
          </a:p>
        </p:txBody>
      </p:sp>
      <p:sp>
        <p:nvSpPr>
          <p:cNvPr id="12" name="TextBox 11"/>
          <p:cNvSpPr txBox="1"/>
          <p:nvPr/>
        </p:nvSpPr>
        <p:spPr>
          <a:xfrm>
            <a:off x="7818120" y="4160520"/>
            <a:ext cx="2926080" cy="365760"/>
          </a:xfrm>
          <a:prstGeom prst="rect">
            <a:avLst/>
          </a:prstGeom>
          <a:noFill/>
        </p:spPr>
        <p:txBody>
          <a:bodyPr wrap="square" lIns="0" rIns="0" tIns="0">
            <a:spAutoFit/>
          </a:bodyPr>
          <a:lstStyle/>
          <a:p>
            <a:pPr>
              <a:spcAft>
                <a:spcPts val="800"/>
              </a:spcAft>
              <a:defRPr sz="1600" b="1">
                <a:solidFill>
                  <a:srgbClr val="26BEC2"/>
                </a:solidFill>
                <a:latin typeface="Arial"/>
              </a:defRPr>
            </a:pPr>
            <a:r>
              <a:t>Business use</a:t>
            </a:r>
          </a:p>
        </p:txBody>
      </p:sp>
      <p:sp>
        <p:nvSpPr>
          <p:cNvPr id="13" name="TextBox 12"/>
          <p:cNvSpPr txBox="1"/>
          <p:nvPr/>
        </p:nvSpPr>
        <p:spPr>
          <a:xfrm>
            <a:off x="7818120" y="4617720"/>
            <a:ext cx="297180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sales monitoring, comparison and decision-making.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7</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BEGINNER – PROFIT BY CATEGORY</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82142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rofit_by_category.png"/>
          <p:cNvPicPr>
            <a:picLocks noChangeAspect="1"/>
          </p:cNvPicPr>
          <p:nvPr/>
        </p:nvPicPr>
        <p:blipFill>
          <a:blip r:embed="rId2"/>
          <a:stretch>
            <a:fillRect/>
          </a:stretch>
        </p:blipFill>
        <p:spPr>
          <a:xfrm>
            <a:off x="914400" y="1325880"/>
            <a:ext cx="6675120" cy="4800600"/>
          </a:xfrm>
          <a:prstGeom prst="rect">
            <a:avLst/>
          </a:prstGeom>
        </p:spPr>
      </p:pic>
      <p:sp>
        <p:nvSpPr>
          <p:cNvPr id="11" name="TextBox 10"/>
          <p:cNvSpPr txBox="1"/>
          <p:nvPr/>
        </p:nvSpPr>
        <p:spPr>
          <a:xfrm>
            <a:off x="7818120" y="1828800"/>
            <a:ext cx="3017520" cy="2468880"/>
          </a:xfrm>
          <a:prstGeom prst="rect">
            <a:avLst/>
          </a:prstGeom>
          <a:noFill/>
        </p:spPr>
        <p:txBody>
          <a:bodyPr wrap="square" lIns="0" rIns="0" tIns="0">
            <a:spAutoFit/>
          </a:bodyPr>
          <a:lstStyle/>
          <a:p>
            <a:pPr>
              <a:spcAft>
                <a:spcPts val="800"/>
              </a:spcAft>
              <a:defRPr sz="1600" b="0">
                <a:solidFill>
                  <a:srgbClr val="0A0A0A"/>
                </a:solidFill>
                <a:latin typeface="Arial"/>
              </a:defRPr>
            </a:pPr>
            <a:r>
              <a:t>Compares profit contribution across product categories.</a:t>
            </a:r>
          </a:p>
        </p:txBody>
      </p:sp>
      <p:sp>
        <p:nvSpPr>
          <p:cNvPr id="12" name="TextBox 11"/>
          <p:cNvSpPr txBox="1"/>
          <p:nvPr/>
        </p:nvSpPr>
        <p:spPr>
          <a:xfrm>
            <a:off x="7818120" y="4160520"/>
            <a:ext cx="2926080" cy="365760"/>
          </a:xfrm>
          <a:prstGeom prst="rect">
            <a:avLst/>
          </a:prstGeom>
          <a:noFill/>
        </p:spPr>
        <p:txBody>
          <a:bodyPr wrap="square" lIns="0" rIns="0" tIns="0">
            <a:spAutoFit/>
          </a:bodyPr>
          <a:lstStyle/>
          <a:p>
            <a:pPr>
              <a:spcAft>
                <a:spcPts val="800"/>
              </a:spcAft>
              <a:defRPr sz="1600" b="1">
                <a:solidFill>
                  <a:srgbClr val="26BEC2"/>
                </a:solidFill>
                <a:latin typeface="Arial"/>
              </a:defRPr>
            </a:pPr>
            <a:r>
              <a:t>Business use</a:t>
            </a:r>
          </a:p>
        </p:txBody>
      </p:sp>
      <p:sp>
        <p:nvSpPr>
          <p:cNvPr id="13" name="TextBox 12"/>
          <p:cNvSpPr txBox="1"/>
          <p:nvPr/>
        </p:nvSpPr>
        <p:spPr>
          <a:xfrm>
            <a:off x="7818120" y="4617720"/>
            <a:ext cx="297180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sales monitoring, comparison and decision-making.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8</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BEGINNER – SALES BY CATEGORY</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82142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ales_by_category.png"/>
          <p:cNvPicPr>
            <a:picLocks noChangeAspect="1"/>
          </p:cNvPicPr>
          <p:nvPr/>
        </p:nvPicPr>
        <p:blipFill>
          <a:blip r:embed="rId2"/>
          <a:stretch>
            <a:fillRect/>
          </a:stretch>
        </p:blipFill>
        <p:spPr>
          <a:xfrm>
            <a:off x="914400" y="1325880"/>
            <a:ext cx="6675120" cy="4800600"/>
          </a:xfrm>
          <a:prstGeom prst="rect">
            <a:avLst/>
          </a:prstGeom>
        </p:spPr>
      </p:pic>
      <p:sp>
        <p:nvSpPr>
          <p:cNvPr id="11" name="TextBox 10"/>
          <p:cNvSpPr txBox="1"/>
          <p:nvPr/>
        </p:nvSpPr>
        <p:spPr>
          <a:xfrm>
            <a:off x="7818120" y="1828800"/>
            <a:ext cx="3017520" cy="2468880"/>
          </a:xfrm>
          <a:prstGeom prst="rect">
            <a:avLst/>
          </a:prstGeom>
          <a:noFill/>
        </p:spPr>
        <p:txBody>
          <a:bodyPr wrap="square" lIns="0" rIns="0" tIns="0">
            <a:spAutoFit/>
          </a:bodyPr>
          <a:lstStyle/>
          <a:p>
            <a:pPr>
              <a:spcAft>
                <a:spcPts val="800"/>
              </a:spcAft>
              <a:defRPr sz="1600" b="0">
                <a:solidFill>
                  <a:srgbClr val="0A0A0A"/>
                </a:solidFill>
                <a:latin typeface="Arial"/>
              </a:defRPr>
            </a:pPr>
            <a:r>
              <a:t>Shows how each product category contributes to total sales.</a:t>
            </a:r>
          </a:p>
        </p:txBody>
      </p:sp>
      <p:sp>
        <p:nvSpPr>
          <p:cNvPr id="12" name="TextBox 11"/>
          <p:cNvSpPr txBox="1"/>
          <p:nvPr/>
        </p:nvSpPr>
        <p:spPr>
          <a:xfrm>
            <a:off x="7818120" y="4160520"/>
            <a:ext cx="2926080" cy="365760"/>
          </a:xfrm>
          <a:prstGeom prst="rect">
            <a:avLst/>
          </a:prstGeom>
          <a:noFill/>
        </p:spPr>
        <p:txBody>
          <a:bodyPr wrap="square" lIns="0" rIns="0" tIns="0">
            <a:spAutoFit/>
          </a:bodyPr>
          <a:lstStyle/>
          <a:p>
            <a:pPr>
              <a:spcAft>
                <a:spcPts val="800"/>
              </a:spcAft>
              <a:defRPr sz="1600" b="1">
                <a:solidFill>
                  <a:srgbClr val="26BEC2"/>
                </a:solidFill>
                <a:latin typeface="Arial"/>
              </a:defRPr>
            </a:pPr>
            <a:r>
              <a:t>Business use</a:t>
            </a:r>
          </a:p>
        </p:txBody>
      </p:sp>
      <p:sp>
        <p:nvSpPr>
          <p:cNvPr id="13" name="TextBox 12"/>
          <p:cNvSpPr txBox="1"/>
          <p:nvPr/>
        </p:nvSpPr>
        <p:spPr>
          <a:xfrm>
            <a:off x="7818120" y="4617720"/>
            <a:ext cx="297180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sales monitoring, comparison and decision-making.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9</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BEGINNER – TOP 10 PRODUCTS</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82142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op10_products.png"/>
          <p:cNvPicPr>
            <a:picLocks noChangeAspect="1"/>
          </p:cNvPicPr>
          <p:nvPr/>
        </p:nvPicPr>
        <p:blipFill>
          <a:blip r:embed="rId2"/>
          <a:stretch>
            <a:fillRect/>
          </a:stretch>
        </p:blipFill>
        <p:spPr>
          <a:xfrm>
            <a:off x="914400" y="1325880"/>
            <a:ext cx="6675120" cy="4800600"/>
          </a:xfrm>
          <a:prstGeom prst="rect">
            <a:avLst/>
          </a:prstGeom>
        </p:spPr>
      </p:pic>
      <p:sp>
        <p:nvSpPr>
          <p:cNvPr id="11" name="TextBox 10"/>
          <p:cNvSpPr txBox="1"/>
          <p:nvPr/>
        </p:nvSpPr>
        <p:spPr>
          <a:xfrm>
            <a:off x="7818120" y="1828800"/>
            <a:ext cx="3017520" cy="2468880"/>
          </a:xfrm>
          <a:prstGeom prst="rect">
            <a:avLst/>
          </a:prstGeom>
          <a:noFill/>
        </p:spPr>
        <p:txBody>
          <a:bodyPr wrap="square" lIns="0" rIns="0" tIns="0">
            <a:spAutoFit/>
          </a:bodyPr>
          <a:lstStyle/>
          <a:p>
            <a:pPr>
              <a:spcAft>
                <a:spcPts val="800"/>
              </a:spcAft>
              <a:defRPr sz="1600" b="0">
                <a:solidFill>
                  <a:srgbClr val="0A0A0A"/>
                </a:solidFill>
                <a:latin typeface="Arial"/>
              </a:defRPr>
            </a:pPr>
            <a:r>
              <a:t>Highlights products with strong sales performance for further business attention.</a:t>
            </a:r>
          </a:p>
        </p:txBody>
      </p:sp>
      <p:sp>
        <p:nvSpPr>
          <p:cNvPr id="12" name="TextBox 11"/>
          <p:cNvSpPr txBox="1"/>
          <p:nvPr/>
        </p:nvSpPr>
        <p:spPr>
          <a:xfrm>
            <a:off x="7818120" y="4160520"/>
            <a:ext cx="2926080" cy="365760"/>
          </a:xfrm>
          <a:prstGeom prst="rect">
            <a:avLst/>
          </a:prstGeom>
          <a:noFill/>
        </p:spPr>
        <p:txBody>
          <a:bodyPr wrap="square" lIns="0" rIns="0" tIns="0">
            <a:spAutoFit/>
          </a:bodyPr>
          <a:lstStyle/>
          <a:p>
            <a:pPr>
              <a:spcAft>
                <a:spcPts val="800"/>
              </a:spcAft>
              <a:defRPr sz="1600" b="1">
                <a:solidFill>
                  <a:srgbClr val="26BEC2"/>
                </a:solidFill>
                <a:latin typeface="Arial"/>
              </a:defRPr>
            </a:pPr>
            <a:r>
              <a:t>Business use</a:t>
            </a:r>
          </a:p>
        </p:txBody>
      </p:sp>
      <p:sp>
        <p:nvSpPr>
          <p:cNvPr id="13" name="TextBox 12"/>
          <p:cNvSpPr txBox="1"/>
          <p:nvPr/>
        </p:nvSpPr>
        <p:spPr>
          <a:xfrm>
            <a:off x="7818120" y="4617720"/>
            <a:ext cx="297180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sales monitoring, comparison and decision-making.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10</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BEGINNER – KPI CARDS &amp; DASHBOARD</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71600"/>
            <a:ext cx="4572000" cy="4389120"/>
          </a:xfrm>
          <a:prstGeom prst="rect">
            <a:avLst/>
          </a:prstGeom>
          <a:noFill/>
        </p:spPr>
        <p:txBody>
          <a:bodyPr wrap="square">
            <a:spAutoFit/>
          </a:bodyPr>
          <a:lstStyle/>
          <a:p>
            <a:pPr>
              <a:spcAft>
                <a:spcPts val="900"/>
              </a:spcAft>
              <a:defRPr sz="1600">
                <a:solidFill>
                  <a:srgbClr val="0A0A0A"/>
                </a:solidFill>
                <a:latin typeface="Arial"/>
              </a:defRPr>
            </a:pPr>
            <a:r>
              <a:t>• KPI cards: Total Sales, Total Profit and other key measures</a:t>
            </a:r>
          </a:p>
          <a:p>
            <a:pPr>
              <a:spcAft>
                <a:spcPts val="900"/>
              </a:spcAft>
              <a:defRPr sz="1600">
                <a:solidFill>
                  <a:srgbClr val="0A0A0A"/>
                </a:solidFill>
                <a:latin typeface="Arial"/>
              </a:defRPr>
            </a:pPr>
            <a:r>
              <a:t>• Combined multiple charts into a single Tableau-style dashboard</a:t>
            </a:r>
          </a:p>
          <a:p>
            <a:pPr>
              <a:spcAft>
                <a:spcPts val="900"/>
              </a:spcAft>
              <a:defRPr sz="1600">
                <a:solidFill>
                  <a:srgbClr val="0A0A0A"/>
                </a:solidFill>
                <a:latin typeface="Arial"/>
              </a:defRPr>
            </a:pPr>
            <a:r>
              <a:t>• Designed for quick monitoring and simple business storytelling</a:t>
            </a:r>
          </a:p>
          <a:p>
            <a:pPr>
              <a:spcAft>
                <a:spcPts val="900"/>
              </a:spcAft>
              <a:defRPr sz="1600">
                <a:solidFill>
                  <a:srgbClr val="0A0A0A"/>
                </a:solidFill>
                <a:latin typeface="Arial"/>
              </a:defRPr>
            </a:pPr>
            <a:r>
              <a:t>• Prepared business insights and recommendations</a:t>
            </a:r>
          </a:p>
        </p:txBody>
      </p:sp>
      <p:sp>
        <p:nvSpPr>
          <p:cNvPr id="10" name="Rounded Rectangle 9"/>
          <p:cNvSpPr/>
          <p:nvPr/>
        </p:nvSpPr>
        <p:spPr>
          <a:xfrm>
            <a:off x="5504688" y="1252728"/>
            <a:ext cx="5632704" cy="462686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_clean_tableau_style_business_dashboard_screensho.png"/>
          <p:cNvPicPr>
            <a:picLocks noChangeAspect="1"/>
          </p:cNvPicPr>
          <p:nvPr/>
        </p:nvPicPr>
        <p:blipFill>
          <a:blip r:embed="rId2"/>
          <a:stretch>
            <a:fillRect/>
          </a:stretch>
        </p:blipFill>
        <p:spPr>
          <a:xfrm>
            <a:off x="5577840" y="1325880"/>
            <a:ext cx="5486400" cy="4480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11</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BEGINNER – OUTCOME</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508760"/>
            <a:ext cx="9326880" cy="4114800"/>
          </a:xfrm>
          <a:prstGeom prst="rect">
            <a:avLst/>
          </a:prstGeom>
          <a:noFill/>
        </p:spPr>
        <p:txBody>
          <a:bodyPr wrap="square">
            <a:spAutoFit/>
          </a:bodyPr>
          <a:lstStyle/>
          <a:p>
            <a:pPr>
              <a:spcAft>
                <a:spcPts val="900"/>
              </a:spcAft>
              <a:defRPr sz="1800">
                <a:solidFill>
                  <a:srgbClr val="0A0A0A"/>
                </a:solidFill>
                <a:latin typeface="Arial"/>
              </a:defRPr>
            </a:pPr>
            <a:r>
              <a:t>• Data cleaning fundamentals</a:t>
            </a:r>
          </a:p>
          <a:p>
            <a:pPr>
              <a:spcAft>
                <a:spcPts val="900"/>
              </a:spcAft>
              <a:defRPr sz="1800">
                <a:solidFill>
                  <a:srgbClr val="0A0A0A"/>
                </a:solidFill>
                <a:latin typeface="Arial"/>
              </a:defRPr>
            </a:pPr>
            <a:r>
              <a:t>• KPI calculation</a:t>
            </a:r>
          </a:p>
          <a:p>
            <a:pPr>
              <a:spcAft>
                <a:spcPts val="900"/>
              </a:spcAft>
              <a:defRPr sz="1800">
                <a:solidFill>
                  <a:srgbClr val="0A0A0A"/>
                </a:solidFill>
                <a:latin typeface="Arial"/>
              </a:defRPr>
            </a:pPr>
            <a:r>
              <a:t>• Basic chart selection</a:t>
            </a:r>
          </a:p>
          <a:p>
            <a:pPr>
              <a:spcAft>
                <a:spcPts val="900"/>
              </a:spcAft>
              <a:defRPr sz="1800">
                <a:solidFill>
                  <a:srgbClr val="0A0A0A"/>
                </a:solidFill>
                <a:latin typeface="Arial"/>
              </a:defRPr>
            </a:pPr>
            <a:r>
              <a:t>• Dashboard layout and visual hierarchy</a:t>
            </a:r>
          </a:p>
          <a:p>
            <a:pPr>
              <a:spcAft>
                <a:spcPts val="900"/>
              </a:spcAft>
              <a:defRPr sz="1800">
                <a:solidFill>
                  <a:srgbClr val="0A0A0A"/>
                </a:solidFill>
                <a:latin typeface="Arial"/>
              </a:defRPr>
            </a:pPr>
            <a:r>
              <a:t>• Business insight writing</a:t>
            </a:r>
          </a:p>
          <a:p>
            <a:pPr>
              <a:spcAft>
                <a:spcPts val="900"/>
              </a:spcAft>
              <a:defRPr sz="1800">
                <a:solidFill>
                  <a:srgbClr val="0A0A0A"/>
                </a:solidFill>
                <a:latin typeface="Arial"/>
              </a:defRPr>
            </a:pPr>
            <a:r>
              <a:t>• Complete Beginner report and video prepared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12</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LEVEL</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417320"/>
            <a:ext cx="9784080" cy="4206240"/>
          </a:xfrm>
          <a:prstGeom prst="rect">
            <a:avLst/>
          </a:prstGeom>
          <a:noFill/>
        </p:spPr>
        <p:txBody>
          <a:bodyPr wrap="square">
            <a:spAutoFit/>
          </a:bodyPr>
          <a:lstStyle/>
          <a:p>
            <a:pPr>
              <a:spcAft>
                <a:spcPts val="900"/>
              </a:spcAft>
              <a:defRPr sz="1700">
                <a:solidFill>
                  <a:srgbClr val="0A0A0A"/>
                </a:solidFill>
                <a:latin typeface="Arial"/>
              </a:defRPr>
            </a:pPr>
            <a:r>
              <a:t>• Project focus: Customer &amp; Revenue Analytics using Superstore data</a:t>
            </a:r>
          </a:p>
          <a:p>
            <a:pPr>
              <a:spcAft>
                <a:spcPts val="900"/>
              </a:spcAft>
              <a:defRPr sz="1700">
                <a:solidFill>
                  <a:srgbClr val="0A0A0A"/>
                </a:solidFill>
                <a:latin typeface="Arial"/>
              </a:defRPr>
            </a:pPr>
            <a:r>
              <a:t>• Moved from basic visualization to exploratory and comparative analysis</a:t>
            </a:r>
          </a:p>
          <a:p>
            <a:pPr>
              <a:spcAft>
                <a:spcPts val="900"/>
              </a:spcAft>
              <a:defRPr sz="1700">
                <a:solidFill>
                  <a:srgbClr val="0A0A0A"/>
                </a:solidFill>
                <a:latin typeface="Arial"/>
              </a:defRPr>
            </a:pPr>
            <a:r>
              <a:t>• Analyzed customers, products, regions, segments, revenue, profit and discounts</a:t>
            </a:r>
          </a:p>
          <a:p>
            <a:pPr>
              <a:spcAft>
                <a:spcPts val="900"/>
              </a:spcAft>
              <a:defRPr sz="1700">
                <a:solidFill>
                  <a:srgbClr val="0A0A0A"/>
                </a:solidFill>
                <a:latin typeface="Arial"/>
              </a:defRPr>
            </a:pPr>
            <a:r>
              <a:t>• Created 8 visualizations, KPI cards, dashboard, business insights and recommendations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13</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DATASET PREPARATION</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417320"/>
            <a:ext cx="4846320" cy="4114800"/>
          </a:xfrm>
          <a:prstGeom prst="rect">
            <a:avLst/>
          </a:prstGeom>
          <a:noFill/>
        </p:spPr>
        <p:txBody>
          <a:bodyPr wrap="square">
            <a:spAutoFit/>
          </a:bodyPr>
          <a:lstStyle/>
          <a:p>
            <a:pPr>
              <a:spcAft>
                <a:spcPts val="900"/>
              </a:spcAft>
              <a:defRPr sz="1700">
                <a:solidFill>
                  <a:srgbClr val="0A0A0A"/>
                </a:solidFill>
                <a:latin typeface="Arial"/>
              </a:defRPr>
            </a:pPr>
            <a:r>
              <a:t>• Used the cleaned Superstore dataset</a:t>
            </a:r>
          </a:p>
          <a:p>
            <a:pPr>
              <a:spcAft>
                <a:spcPts val="900"/>
              </a:spcAft>
              <a:defRPr sz="1700">
                <a:solidFill>
                  <a:srgbClr val="0A0A0A"/>
                </a:solidFill>
                <a:latin typeface="Arial"/>
              </a:defRPr>
            </a:pPr>
            <a:r>
              <a:t>• Validated analytical fields</a:t>
            </a:r>
          </a:p>
          <a:p>
            <a:pPr>
              <a:spcAft>
                <a:spcPts val="900"/>
              </a:spcAft>
              <a:defRPr sz="1700">
                <a:solidFill>
                  <a:srgbClr val="0A0A0A"/>
                </a:solidFill>
                <a:latin typeface="Arial"/>
              </a:defRPr>
            </a:pPr>
            <a:r>
              <a:t>• Prepared data for customer, product, regional and profitability analysis</a:t>
            </a:r>
          </a:p>
          <a:p>
            <a:pPr>
              <a:spcAft>
                <a:spcPts val="900"/>
              </a:spcAft>
              <a:defRPr sz="1700">
                <a:solidFill>
                  <a:srgbClr val="0A0A0A"/>
                </a:solidFill>
                <a:latin typeface="Arial"/>
              </a:defRPr>
            </a:pPr>
            <a:r>
              <a:t>• Structured measures consistently across the 8 visualizations</a:t>
            </a:r>
          </a:p>
        </p:txBody>
      </p:sp>
      <p:sp>
        <p:nvSpPr>
          <p:cNvPr id="10" name="Rounded Rectangle 9"/>
          <p:cNvSpPr/>
          <p:nvPr/>
        </p:nvSpPr>
        <p:spPr>
          <a:xfrm>
            <a:off x="5824728" y="1298448"/>
            <a:ext cx="5266944" cy="462686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ntermediate_8_Visualizations.png"/>
          <p:cNvPicPr>
            <a:picLocks noChangeAspect="1"/>
          </p:cNvPicPr>
          <p:nvPr/>
        </p:nvPicPr>
        <p:blipFill>
          <a:blip r:embed="rId2"/>
          <a:stretch>
            <a:fillRect/>
          </a:stretch>
        </p:blipFill>
        <p:spPr>
          <a:xfrm>
            <a:off x="5897880" y="1371600"/>
            <a:ext cx="5120640" cy="44805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14</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MONTHLY REVENUE TREND</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1_monthly_revenue_trend.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74519"/>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Tracks revenue movement over time.</a:t>
            </a:r>
          </a:p>
        </p:txBody>
      </p:sp>
      <p:sp>
        <p:nvSpPr>
          <p:cNvPr id="12" name="TextBox 11"/>
          <p:cNvSpPr txBox="1"/>
          <p:nvPr/>
        </p:nvSpPr>
        <p:spPr>
          <a:xfrm>
            <a:off x="7818120" y="4114800"/>
            <a:ext cx="2743200" cy="365760"/>
          </a:xfrm>
          <a:prstGeom prst="rect">
            <a:avLst/>
          </a:prstGeom>
          <a:noFill/>
        </p:spPr>
        <p:txBody>
          <a:bodyPr wrap="square" lIns="0" rIns="0" tIns="0">
            <a:spAutoFit/>
          </a:bodyPr>
          <a:lstStyle/>
          <a:p>
            <a:pPr>
              <a:spcAft>
                <a:spcPts val="800"/>
              </a:spcAft>
              <a:defRPr sz="1600" b="1">
                <a:solidFill>
                  <a:srgbClr val="26BEC2"/>
                </a:solidFill>
                <a:latin typeface="Arial"/>
              </a:defRPr>
            </a:pPr>
            <a:r>
              <a:t>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customer, product, regional and profitability decisions.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15</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SALES VS PROFIT BY CATEGORY</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2_sales_vs_profit_category.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74519"/>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Compares sales performance with profitability by category.</a:t>
            </a:r>
          </a:p>
        </p:txBody>
      </p:sp>
      <p:sp>
        <p:nvSpPr>
          <p:cNvPr id="12" name="TextBox 11"/>
          <p:cNvSpPr txBox="1"/>
          <p:nvPr/>
        </p:nvSpPr>
        <p:spPr>
          <a:xfrm>
            <a:off x="7818120" y="4114800"/>
            <a:ext cx="2743200" cy="365760"/>
          </a:xfrm>
          <a:prstGeom prst="rect">
            <a:avLst/>
          </a:prstGeom>
          <a:noFill/>
        </p:spPr>
        <p:txBody>
          <a:bodyPr wrap="square" lIns="0" rIns="0" tIns="0">
            <a:spAutoFit/>
          </a:bodyPr>
          <a:lstStyle/>
          <a:p>
            <a:pPr>
              <a:spcAft>
                <a:spcPts val="800"/>
              </a:spcAft>
              <a:defRPr sz="1600" b="1">
                <a:solidFill>
                  <a:srgbClr val="26BEC2"/>
                </a:solidFill>
                <a:latin typeface="Arial"/>
              </a:defRPr>
            </a:pPr>
            <a:r>
              <a:t>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customer, product, regional and profitability decisions.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16</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REVENUE BY REGION</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3_revenue_by_region.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74519"/>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Compares regional contribution to revenue.</a:t>
            </a:r>
          </a:p>
        </p:txBody>
      </p:sp>
      <p:sp>
        <p:nvSpPr>
          <p:cNvPr id="12" name="TextBox 11"/>
          <p:cNvSpPr txBox="1"/>
          <p:nvPr/>
        </p:nvSpPr>
        <p:spPr>
          <a:xfrm>
            <a:off x="7818120" y="4114800"/>
            <a:ext cx="2743200" cy="365760"/>
          </a:xfrm>
          <a:prstGeom prst="rect">
            <a:avLst/>
          </a:prstGeom>
          <a:noFill/>
        </p:spPr>
        <p:txBody>
          <a:bodyPr wrap="square" lIns="0" rIns="0" tIns="0">
            <a:spAutoFit/>
          </a:bodyPr>
          <a:lstStyle/>
          <a:p>
            <a:pPr>
              <a:spcAft>
                <a:spcPts val="800"/>
              </a:spcAft>
              <a:defRPr sz="1600" b="1">
                <a:solidFill>
                  <a:srgbClr val="26BEC2"/>
                </a:solidFill>
                <a:latin typeface="Arial"/>
              </a:defRPr>
            </a:pPr>
            <a:r>
              <a:t>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customer, product, regional and profitability decisions.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17</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TOP 10 CUSTOMERS</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4_top_10_customers.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74519"/>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Identifies high-value customers for retention and relationship management.</a:t>
            </a:r>
          </a:p>
        </p:txBody>
      </p:sp>
      <p:sp>
        <p:nvSpPr>
          <p:cNvPr id="12" name="TextBox 11"/>
          <p:cNvSpPr txBox="1"/>
          <p:nvPr/>
        </p:nvSpPr>
        <p:spPr>
          <a:xfrm>
            <a:off x="7818120" y="4114800"/>
            <a:ext cx="2743200" cy="365760"/>
          </a:xfrm>
          <a:prstGeom prst="rect">
            <a:avLst/>
          </a:prstGeom>
          <a:noFill/>
        </p:spPr>
        <p:txBody>
          <a:bodyPr wrap="square" lIns="0" rIns="0" tIns="0">
            <a:spAutoFit/>
          </a:bodyPr>
          <a:lstStyle/>
          <a:p>
            <a:pPr>
              <a:spcAft>
                <a:spcPts val="800"/>
              </a:spcAft>
              <a:defRPr sz="1600" b="1">
                <a:solidFill>
                  <a:srgbClr val="26BEC2"/>
                </a:solidFill>
                <a:latin typeface="Arial"/>
              </a:defRPr>
            </a:pPr>
            <a:r>
              <a:t>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customer, product, regional and profitability decisions.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18</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TOP 10 PRODUCTS</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_top_10_products.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74519"/>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Identifies strong-performing products.</a:t>
            </a:r>
          </a:p>
        </p:txBody>
      </p:sp>
      <p:sp>
        <p:nvSpPr>
          <p:cNvPr id="12" name="TextBox 11"/>
          <p:cNvSpPr txBox="1"/>
          <p:nvPr/>
        </p:nvSpPr>
        <p:spPr>
          <a:xfrm>
            <a:off x="7818120" y="4114800"/>
            <a:ext cx="2743200" cy="365760"/>
          </a:xfrm>
          <a:prstGeom prst="rect">
            <a:avLst/>
          </a:prstGeom>
          <a:noFill/>
        </p:spPr>
        <p:txBody>
          <a:bodyPr wrap="square" lIns="0" rIns="0" tIns="0">
            <a:spAutoFit/>
          </a:bodyPr>
          <a:lstStyle/>
          <a:p>
            <a:pPr>
              <a:spcAft>
                <a:spcPts val="800"/>
              </a:spcAft>
              <a:defRPr sz="1600" b="1">
                <a:solidFill>
                  <a:srgbClr val="26BEC2"/>
                </a:solidFill>
                <a:latin typeface="Arial"/>
              </a:defRPr>
            </a:pPr>
            <a:r>
              <a:t>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customer, product, regional and profitability decisions.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19</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REPEAT VS ONE-TIME CUSTOMERS</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6_repeat_vs_one_time.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74519"/>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Examines recurring versus one-time customer business.</a:t>
            </a:r>
          </a:p>
        </p:txBody>
      </p:sp>
      <p:sp>
        <p:nvSpPr>
          <p:cNvPr id="12" name="TextBox 11"/>
          <p:cNvSpPr txBox="1"/>
          <p:nvPr/>
        </p:nvSpPr>
        <p:spPr>
          <a:xfrm>
            <a:off x="7818120" y="4114800"/>
            <a:ext cx="2743200" cy="365760"/>
          </a:xfrm>
          <a:prstGeom prst="rect">
            <a:avLst/>
          </a:prstGeom>
          <a:noFill/>
        </p:spPr>
        <p:txBody>
          <a:bodyPr wrap="square" lIns="0" rIns="0" tIns="0">
            <a:spAutoFit/>
          </a:bodyPr>
          <a:lstStyle/>
          <a:p>
            <a:pPr>
              <a:spcAft>
                <a:spcPts val="800"/>
              </a:spcAft>
              <a:defRPr sz="1600" b="1">
                <a:solidFill>
                  <a:srgbClr val="26BEC2"/>
                </a:solidFill>
                <a:latin typeface="Arial"/>
              </a:defRPr>
            </a:pPr>
            <a:r>
              <a:t>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customer, product, regional and profitability decisions.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20</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DISCOUNT VS PROFIT</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7_discount_vs_profit.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74519"/>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Investigates the relationship between discounting and profit.</a:t>
            </a:r>
          </a:p>
        </p:txBody>
      </p:sp>
      <p:sp>
        <p:nvSpPr>
          <p:cNvPr id="12" name="TextBox 11"/>
          <p:cNvSpPr txBox="1"/>
          <p:nvPr/>
        </p:nvSpPr>
        <p:spPr>
          <a:xfrm>
            <a:off x="7818120" y="4114800"/>
            <a:ext cx="2743200" cy="365760"/>
          </a:xfrm>
          <a:prstGeom prst="rect">
            <a:avLst/>
          </a:prstGeom>
          <a:noFill/>
        </p:spPr>
        <p:txBody>
          <a:bodyPr wrap="square" lIns="0" rIns="0" tIns="0">
            <a:spAutoFit/>
          </a:bodyPr>
          <a:lstStyle/>
          <a:p>
            <a:pPr>
              <a:spcAft>
                <a:spcPts val="800"/>
              </a:spcAft>
              <a:defRPr sz="1600" b="1">
                <a:solidFill>
                  <a:srgbClr val="26BEC2"/>
                </a:solidFill>
                <a:latin typeface="Arial"/>
              </a:defRPr>
            </a:pPr>
            <a:r>
              <a:t>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customer, product, regional and profitability decisions.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21</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SEGMENT SALES &amp; PROFIT</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8_segment_sales_profit.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74519"/>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Compares sales and profit across customer segments.</a:t>
            </a:r>
          </a:p>
        </p:txBody>
      </p:sp>
      <p:sp>
        <p:nvSpPr>
          <p:cNvPr id="12" name="TextBox 11"/>
          <p:cNvSpPr txBox="1"/>
          <p:nvPr/>
        </p:nvSpPr>
        <p:spPr>
          <a:xfrm>
            <a:off x="7818120" y="4114800"/>
            <a:ext cx="2743200" cy="365760"/>
          </a:xfrm>
          <a:prstGeom prst="rect">
            <a:avLst/>
          </a:prstGeom>
          <a:noFill/>
        </p:spPr>
        <p:txBody>
          <a:bodyPr wrap="square" lIns="0" rIns="0" tIns="0">
            <a:spAutoFit/>
          </a:bodyPr>
          <a:lstStyle/>
          <a:p>
            <a:pPr>
              <a:spcAft>
                <a:spcPts val="800"/>
              </a:spcAft>
              <a:defRPr sz="1600" b="1">
                <a:solidFill>
                  <a:srgbClr val="26BEC2"/>
                </a:solidFill>
                <a:latin typeface="Arial"/>
              </a:defRPr>
            </a:pPr>
            <a:r>
              <a:t>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Supports customer, product, regional and profitability decisions.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22</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KPI CARDS &amp; DASHBOARD</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71600"/>
            <a:ext cx="4663440" cy="4480560"/>
          </a:xfrm>
          <a:prstGeom prst="rect">
            <a:avLst/>
          </a:prstGeom>
          <a:noFill/>
        </p:spPr>
        <p:txBody>
          <a:bodyPr wrap="square">
            <a:spAutoFit/>
          </a:bodyPr>
          <a:lstStyle/>
          <a:p>
            <a:pPr>
              <a:spcAft>
                <a:spcPts val="900"/>
              </a:spcAft>
              <a:defRPr sz="1600">
                <a:solidFill>
                  <a:srgbClr val="0A0A0A"/>
                </a:solidFill>
                <a:latin typeface="Arial"/>
              </a:defRPr>
            </a:pPr>
            <a:r>
              <a:t>• KPI cards summarize key revenue and profitability measures</a:t>
            </a:r>
          </a:p>
          <a:p>
            <a:pPr>
              <a:spcAft>
                <a:spcPts val="900"/>
              </a:spcAft>
              <a:defRPr sz="1600">
                <a:solidFill>
                  <a:srgbClr val="0A0A0A"/>
                </a:solidFill>
                <a:latin typeface="Arial"/>
              </a:defRPr>
            </a:pPr>
            <a:r>
              <a:t>• Dashboard combines all 8 visualizations</a:t>
            </a:r>
          </a:p>
          <a:p>
            <a:pPr>
              <a:spcAft>
                <a:spcPts val="900"/>
              </a:spcAft>
              <a:defRPr sz="1600">
                <a:solidFill>
                  <a:srgbClr val="0A0A0A"/>
                </a:solidFill>
                <a:latin typeface="Arial"/>
              </a:defRPr>
            </a:pPr>
            <a:r>
              <a:t>• Customer, product, regional and segment views are connected</a:t>
            </a:r>
          </a:p>
          <a:p>
            <a:pPr>
              <a:spcAft>
                <a:spcPts val="900"/>
              </a:spcAft>
              <a:defRPr sz="1600">
                <a:solidFill>
                  <a:srgbClr val="0A0A0A"/>
                </a:solidFill>
                <a:latin typeface="Arial"/>
              </a:defRPr>
            </a:pPr>
            <a:r>
              <a:t>• Business insights move from descriptive charts toward recommendations</a:t>
            </a:r>
          </a:p>
        </p:txBody>
      </p:sp>
      <p:sp>
        <p:nvSpPr>
          <p:cNvPr id="10" name="Rounded Rectangle 9"/>
          <p:cNvSpPr/>
          <p:nvPr/>
        </p:nvSpPr>
        <p:spPr>
          <a:xfrm>
            <a:off x="5596128" y="1252728"/>
            <a:ext cx="5541264" cy="467258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ntermediate_8_Visualizations.png"/>
          <p:cNvPicPr>
            <a:picLocks noChangeAspect="1"/>
          </p:cNvPicPr>
          <p:nvPr/>
        </p:nvPicPr>
        <p:blipFill>
          <a:blip r:embed="rId2"/>
          <a:stretch>
            <a:fillRect/>
          </a:stretch>
        </p:blipFill>
        <p:spPr>
          <a:xfrm>
            <a:off x="5669280" y="1325880"/>
            <a:ext cx="5394960" cy="452628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23</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INTERMEDIATE – BUSINESS INSIGHTS</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9601200" cy="4389120"/>
          </a:xfrm>
          <a:prstGeom prst="rect">
            <a:avLst/>
          </a:prstGeom>
          <a:noFill/>
        </p:spPr>
        <p:txBody>
          <a:bodyPr wrap="square">
            <a:spAutoFit/>
          </a:bodyPr>
          <a:lstStyle/>
          <a:p>
            <a:pPr>
              <a:spcAft>
                <a:spcPts val="900"/>
              </a:spcAft>
              <a:defRPr sz="1700">
                <a:solidFill>
                  <a:srgbClr val="0A0A0A"/>
                </a:solidFill>
                <a:latin typeface="Arial"/>
              </a:defRPr>
            </a:pPr>
            <a:r>
              <a:t>• Identified high-value customers and products</a:t>
            </a:r>
          </a:p>
          <a:p>
            <a:pPr>
              <a:spcAft>
                <a:spcPts val="900"/>
              </a:spcAft>
              <a:defRPr sz="1700">
                <a:solidFill>
                  <a:srgbClr val="0A0A0A"/>
                </a:solidFill>
                <a:latin typeface="Arial"/>
              </a:defRPr>
            </a:pPr>
            <a:r>
              <a:t>• Compared regional revenue performance</a:t>
            </a:r>
          </a:p>
          <a:p>
            <a:pPr>
              <a:spcAft>
                <a:spcPts val="900"/>
              </a:spcAft>
              <a:defRPr sz="1700">
                <a:solidFill>
                  <a:srgbClr val="0A0A0A"/>
                </a:solidFill>
                <a:latin typeface="Arial"/>
              </a:defRPr>
            </a:pPr>
            <a:r>
              <a:t>• Evaluated category and segment profitability</a:t>
            </a:r>
          </a:p>
          <a:p>
            <a:pPr>
              <a:spcAft>
                <a:spcPts val="900"/>
              </a:spcAft>
              <a:defRPr sz="1700">
                <a:solidFill>
                  <a:srgbClr val="0A0A0A"/>
                </a:solidFill>
                <a:latin typeface="Arial"/>
              </a:defRPr>
            </a:pPr>
            <a:r>
              <a:t>• Examined repeat-customer behavior</a:t>
            </a:r>
          </a:p>
          <a:p>
            <a:pPr>
              <a:spcAft>
                <a:spcPts val="900"/>
              </a:spcAft>
              <a:defRPr sz="1700">
                <a:solidFill>
                  <a:srgbClr val="0A0A0A"/>
                </a:solidFill>
                <a:latin typeface="Arial"/>
              </a:defRPr>
            </a:pPr>
            <a:r>
              <a:t>• Studied discount versus profit patterns</a:t>
            </a:r>
          </a:p>
          <a:p>
            <a:pPr>
              <a:spcAft>
                <a:spcPts val="900"/>
              </a:spcAft>
              <a:defRPr sz="1700">
                <a:solidFill>
                  <a:srgbClr val="0A0A0A"/>
                </a:solidFill>
                <a:latin typeface="Arial"/>
              </a:defRPr>
            </a:pPr>
            <a:r>
              <a:t>• Converted findings into actionable recommendations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24</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LEVEL</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371600"/>
            <a:ext cx="9875520" cy="4297680"/>
          </a:xfrm>
          <a:prstGeom prst="rect">
            <a:avLst/>
          </a:prstGeom>
          <a:noFill/>
        </p:spPr>
        <p:txBody>
          <a:bodyPr wrap="square">
            <a:spAutoFit/>
          </a:bodyPr>
          <a:lstStyle/>
          <a:p>
            <a:pPr>
              <a:spcAft>
                <a:spcPts val="900"/>
              </a:spcAft>
              <a:defRPr sz="1700">
                <a:solidFill>
                  <a:srgbClr val="0A0A0A"/>
                </a:solidFill>
                <a:latin typeface="Arial"/>
              </a:defRPr>
            </a:pPr>
            <a:r>
              <a:t>• Project focus: IBM HR Analytics – Employee Attrition</a:t>
            </a:r>
          </a:p>
          <a:p>
            <a:pPr>
              <a:spcAft>
                <a:spcPts val="900"/>
              </a:spcAft>
              <a:defRPr sz="1700">
                <a:solidFill>
                  <a:srgbClr val="0A0A0A"/>
                </a:solidFill>
                <a:latin typeface="Arial"/>
              </a:defRPr>
            </a:pPr>
            <a:r>
              <a:t>• Dataset: 1,470 employees and 35 original fields</a:t>
            </a:r>
          </a:p>
          <a:p>
            <a:pPr>
              <a:spcAft>
                <a:spcPts val="900"/>
              </a:spcAft>
              <a:defRPr sz="1700">
                <a:solidFill>
                  <a:srgbClr val="0A0A0A"/>
                </a:solidFill>
                <a:latin typeface="Arial"/>
              </a:defRPr>
            </a:pPr>
            <a:r>
              <a:t>• Created HR-specific KPIs and transformed analytical fields</a:t>
            </a:r>
          </a:p>
          <a:p>
            <a:pPr>
              <a:spcAft>
                <a:spcPts val="900"/>
              </a:spcAft>
              <a:defRPr sz="1700">
                <a:solidFill>
                  <a:srgbClr val="0A0A0A"/>
                </a:solidFill>
                <a:latin typeface="Arial"/>
              </a:defRPr>
            </a:pPr>
            <a:r>
              <a:t>• Built 8 attrition visualizations and an executive dashboard</a:t>
            </a:r>
          </a:p>
          <a:p>
            <a:pPr>
              <a:spcAft>
                <a:spcPts val="900"/>
              </a:spcAft>
              <a:defRPr sz="1700">
                <a:solidFill>
                  <a:srgbClr val="0A0A0A"/>
                </a:solidFill>
                <a:latin typeface="Arial"/>
              </a:defRPr>
            </a:pPr>
            <a:r>
              <a:t>• Added interactive filters, drill-down prototype and decision-oriented storytelling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25</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DATA PREPARATION</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371600"/>
            <a:ext cx="4846320" cy="4389120"/>
          </a:xfrm>
          <a:prstGeom prst="rect">
            <a:avLst/>
          </a:prstGeom>
          <a:noFill/>
        </p:spPr>
        <p:txBody>
          <a:bodyPr wrap="square">
            <a:spAutoFit/>
          </a:bodyPr>
          <a:lstStyle/>
          <a:p>
            <a:pPr>
              <a:spcAft>
                <a:spcPts val="900"/>
              </a:spcAft>
              <a:defRPr sz="1700">
                <a:solidFill>
                  <a:srgbClr val="0A0A0A"/>
                </a:solidFill>
                <a:latin typeface="Arial"/>
              </a:defRPr>
            </a:pPr>
            <a:r>
              <a:t>• Checked and prepared HR fields</a:t>
            </a:r>
          </a:p>
          <a:p>
            <a:pPr>
              <a:spcAft>
                <a:spcPts val="900"/>
              </a:spcAft>
              <a:defRPr sz="1700">
                <a:solidFill>
                  <a:srgbClr val="0A0A0A"/>
                </a:solidFill>
                <a:latin typeface="Arial"/>
              </a:defRPr>
            </a:pPr>
            <a:r>
              <a:t>• Created Attrition Flag and OverTime Flag</a:t>
            </a:r>
          </a:p>
          <a:p>
            <a:pPr>
              <a:spcAft>
                <a:spcPts val="900"/>
              </a:spcAft>
              <a:defRPr sz="1700">
                <a:solidFill>
                  <a:srgbClr val="0A0A0A"/>
                </a:solidFill>
                <a:latin typeface="Arial"/>
              </a:defRPr>
            </a:pPr>
            <a:r>
              <a:t>• Created Age Group, Income Band and Tenure Group</a:t>
            </a:r>
          </a:p>
          <a:p>
            <a:pPr>
              <a:spcAft>
                <a:spcPts val="900"/>
              </a:spcAft>
              <a:defRPr sz="1700">
                <a:solidFill>
                  <a:srgbClr val="0A0A0A"/>
                </a:solidFill>
                <a:latin typeface="Arial"/>
              </a:defRPr>
            </a:pPr>
            <a:r>
              <a:t>• Checked duplicates and missing values</a:t>
            </a:r>
          </a:p>
          <a:p>
            <a:pPr>
              <a:spcAft>
                <a:spcPts val="900"/>
              </a:spcAft>
              <a:defRPr sz="1700">
                <a:solidFill>
                  <a:srgbClr val="0A0A0A"/>
                </a:solidFill>
                <a:latin typeface="Arial"/>
              </a:defRPr>
            </a:pPr>
            <a:r>
              <a:t>• Prepared cleaned Excel and CSV datasets</a:t>
            </a:r>
          </a:p>
        </p:txBody>
      </p:sp>
      <p:sp>
        <p:nvSpPr>
          <p:cNvPr id="10" name="Rounded Rectangle 9"/>
          <p:cNvSpPr/>
          <p:nvPr/>
        </p:nvSpPr>
        <p:spPr>
          <a:xfrm>
            <a:off x="5733288" y="1252728"/>
            <a:ext cx="5358384" cy="467258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vanced_IBM_HR_Executive_Dashboard.png"/>
          <p:cNvPicPr>
            <a:picLocks noChangeAspect="1"/>
          </p:cNvPicPr>
          <p:nvPr/>
        </p:nvPicPr>
        <p:blipFill>
          <a:blip r:embed="rId2"/>
          <a:stretch>
            <a:fillRect/>
          </a:stretch>
        </p:blipFill>
        <p:spPr>
          <a:xfrm>
            <a:off x="5806440" y="1325880"/>
            <a:ext cx="5212080" cy="452628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26</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EXECUTIVE KPI CARDS</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417320"/>
            <a:ext cx="4846320" cy="4480560"/>
          </a:xfrm>
          <a:prstGeom prst="rect">
            <a:avLst/>
          </a:prstGeom>
          <a:noFill/>
        </p:spPr>
        <p:txBody>
          <a:bodyPr wrap="square">
            <a:spAutoFit/>
          </a:bodyPr>
          <a:lstStyle/>
          <a:p>
            <a:pPr>
              <a:spcAft>
                <a:spcPts val="900"/>
              </a:spcAft>
              <a:defRPr sz="1700">
                <a:solidFill>
                  <a:srgbClr val="0A0A0A"/>
                </a:solidFill>
                <a:latin typeface="Arial"/>
              </a:defRPr>
            </a:pPr>
            <a:r>
              <a:t>• Total Employees: 1,470</a:t>
            </a:r>
          </a:p>
          <a:p>
            <a:pPr>
              <a:spcAft>
                <a:spcPts val="900"/>
              </a:spcAft>
              <a:defRPr sz="1700">
                <a:solidFill>
                  <a:srgbClr val="0A0A0A"/>
                </a:solidFill>
                <a:latin typeface="Arial"/>
              </a:defRPr>
            </a:pPr>
            <a:r>
              <a:t>• Employees Who Left: 237</a:t>
            </a:r>
          </a:p>
          <a:p>
            <a:pPr>
              <a:spcAft>
                <a:spcPts val="900"/>
              </a:spcAft>
              <a:defRPr sz="1700">
                <a:solidFill>
                  <a:srgbClr val="0A0A0A"/>
                </a:solidFill>
                <a:latin typeface="Arial"/>
              </a:defRPr>
            </a:pPr>
            <a:r>
              <a:t>• Active Employees: 1,233</a:t>
            </a:r>
          </a:p>
          <a:p>
            <a:pPr>
              <a:spcAft>
                <a:spcPts val="900"/>
              </a:spcAft>
              <a:defRPr sz="1700">
                <a:solidFill>
                  <a:srgbClr val="0A0A0A"/>
                </a:solidFill>
                <a:latin typeface="Arial"/>
              </a:defRPr>
            </a:pPr>
            <a:r>
              <a:t>• Attrition Rate: 16.12%</a:t>
            </a:r>
          </a:p>
          <a:p>
            <a:pPr>
              <a:spcAft>
                <a:spcPts val="900"/>
              </a:spcAft>
              <a:defRPr sz="1700">
                <a:solidFill>
                  <a:srgbClr val="0A0A0A"/>
                </a:solidFill>
                <a:latin typeface="Arial"/>
              </a:defRPr>
            </a:pPr>
            <a:r>
              <a:t>• Average Monthly Income: about $6,503</a:t>
            </a:r>
          </a:p>
          <a:p>
            <a:pPr>
              <a:spcAft>
                <a:spcPts val="900"/>
              </a:spcAft>
              <a:defRPr sz="1700">
                <a:solidFill>
                  <a:srgbClr val="0A0A0A"/>
                </a:solidFill>
                <a:latin typeface="Arial"/>
              </a:defRPr>
            </a:pPr>
            <a:r>
              <a:t>• Overtime Rate: 28.30%</a:t>
            </a:r>
          </a:p>
        </p:txBody>
      </p:sp>
      <p:sp>
        <p:nvSpPr>
          <p:cNvPr id="10" name="Rounded Rectangle 9"/>
          <p:cNvSpPr/>
          <p:nvPr/>
        </p:nvSpPr>
        <p:spPr>
          <a:xfrm>
            <a:off x="5641848" y="1161288"/>
            <a:ext cx="5449824" cy="480974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vanced_Interactive_Executive_Dashboard_Mockup.png"/>
          <p:cNvPicPr>
            <a:picLocks noChangeAspect="1"/>
          </p:cNvPicPr>
          <p:nvPr/>
        </p:nvPicPr>
        <p:blipFill>
          <a:blip r:embed="rId2"/>
          <a:stretch>
            <a:fillRect/>
          </a:stretch>
        </p:blipFill>
        <p:spPr>
          <a:xfrm>
            <a:off x="5715000" y="1234440"/>
            <a:ext cx="5303520" cy="46634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27</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ATTRITION BY DEPARTMENT</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1_attrition_by_department.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28800"/>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Sales has the highest department attrition in the analysis.</a:t>
            </a:r>
          </a:p>
        </p:txBody>
      </p:sp>
      <p:sp>
        <p:nvSpPr>
          <p:cNvPr id="12" name="TextBox 11"/>
          <p:cNvSpPr txBox="1"/>
          <p:nvPr/>
        </p:nvSpPr>
        <p:spPr>
          <a:xfrm>
            <a:off x="7818120" y="4114800"/>
            <a:ext cx="2834640" cy="365760"/>
          </a:xfrm>
          <a:prstGeom prst="rect">
            <a:avLst/>
          </a:prstGeom>
          <a:noFill/>
        </p:spPr>
        <p:txBody>
          <a:bodyPr wrap="square" lIns="0" rIns="0" tIns="0">
            <a:spAutoFit/>
          </a:bodyPr>
          <a:lstStyle/>
          <a:p>
            <a:pPr>
              <a:spcAft>
                <a:spcPts val="800"/>
              </a:spcAft>
              <a:defRPr sz="1600" b="1">
                <a:solidFill>
                  <a:srgbClr val="26BEC2"/>
                </a:solidFill>
                <a:latin typeface="Arial"/>
              </a:defRPr>
            </a:pPr>
            <a:r>
              <a:t>HR 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Helps identify workforce segments for retention analysis.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28</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ATTRITION BY JOB ROLE</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2_attrition_by_job_role.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28800"/>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Sales Representatives show the highest job-role attrition.</a:t>
            </a:r>
          </a:p>
        </p:txBody>
      </p:sp>
      <p:sp>
        <p:nvSpPr>
          <p:cNvPr id="12" name="TextBox 11"/>
          <p:cNvSpPr txBox="1"/>
          <p:nvPr/>
        </p:nvSpPr>
        <p:spPr>
          <a:xfrm>
            <a:off x="7818120" y="4114800"/>
            <a:ext cx="2834640" cy="365760"/>
          </a:xfrm>
          <a:prstGeom prst="rect">
            <a:avLst/>
          </a:prstGeom>
          <a:noFill/>
        </p:spPr>
        <p:txBody>
          <a:bodyPr wrap="square" lIns="0" rIns="0" tIns="0">
            <a:spAutoFit/>
          </a:bodyPr>
          <a:lstStyle/>
          <a:p>
            <a:pPr>
              <a:spcAft>
                <a:spcPts val="800"/>
              </a:spcAft>
              <a:defRPr sz="1600" b="1">
                <a:solidFill>
                  <a:srgbClr val="26BEC2"/>
                </a:solidFill>
                <a:latin typeface="Arial"/>
              </a:defRPr>
            </a:pPr>
            <a:r>
              <a:t>HR 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Helps identify workforce segments for retention analysis.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29</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ATTRITION BY AGE GROUP</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3_attrition_by_age_group.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28800"/>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Younger employees show higher attrition in the dataset.</a:t>
            </a:r>
          </a:p>
        </p:txBody>
      </p:sp>
      <p:sp>
        <p:nvSpPr>
          <p:cNvPr id="12" name="TextBox 11"/>
          <p:cNvSpPr txBox="1"/>
          <p:nvPr/>
        </p:nvSpPr>
        <p:spPr>
          <a:xfrm>
            <a:off x="7818120" y="4114800"/>
            <a:ext cx="2834640" cy="365760"/>
          </a:xfrm>
          <a:prstGeom prst="rect">
            <a:avLst/>
          </a:prstGeom>
          <a:noFill/>
        </p:spPr>
        <p:txBody>
          <a:bodyPr wrap="square" lIns="0" rIns="0" tIns="0">
            <a:spAutoFit/>
          </a:bodyPr>
          <a:lstStyle/>
          <a:p>
            <a:pPr>
              <a:spcAft>
                <a:spcPts val="800"/>
              </a:spcAft>
              <a:defRPr sz="1600" b="1">
                <a:solidFill>
                  <a:srgbClr val="26BEC2"/>
                </a:solidFill>
                <a:latin typeface="Arial"/>
              </a:defRPr>
            </a:pPr>
            <a:r>
              <a:t>HR 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Helps identify workforce segments for retention analysis.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30</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ATTRITION BY INCOME BAND</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4_attrition_by_income_band.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28800"/>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Compares attrition across income groups.</a:t>
            </a:r>
          </a:p>
        </p:txBody>
      </p:sp>
      <p:sp>
        <p:nvSpPr>
          <p:cNvPr id="12" name="TextBox 11"/>
          <p:cNvSpPr txBox="1"/>
          <p:nvPr/>
        </p:nvSpPr>
        <p:spPr>
          <a:xfrm>
            <a:off x="7818120" y="4114800"/>
            <a:ext cx="2834640" cy="365760"/>
          </a:xfrm>
          <a:prstGeom prst="rect">
            <a:avLst/>
          </a:prstGeom>
          <a:noFill/>
        </p:spPr>
        <p:txBody>
          <a:bodyPr wrap="square" lIns="0" rIns="0" tIns="0">
            <a:spAutoFit/>
          </a:bodyPr>
          <a:lstStyle/>
          <a:p>
            <a:pPr>
              <a:spcAft>
                <a:spcPts val="800"/>
              </a:spcAft>
              <a:defRPr sz="1600" b="1">
                <a:solidFill>
                  <a:srgbClr val="26BEC2"/>
                </a:solidFill>
                <a:latin typeface="Arial"/>
              </a:defRPr>
            </a:pPr>
            <a:r>
              <a:t>HR 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Helps identify workforce segments for retention analysis.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31</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ATTRITION BY JOB SATISFACTION</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_attrition_by_job_satisfaction.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28800"/>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Shows how attrition varies by satisfaction rating.</a:t>
            </a:r>
          </a:p>
        </p:txBody>
      </p:sp>
      <p:sp>
        <p:nvSpPr>
          <p:cNvPr id="12" name="TextBox 11"/>
          <p:cNvSpPr txBox="1"/>
          <p:nvPr/>
        </p:nvSpPr>
        <p:spPr>
          <a:xfrm>
            <a:off x="7818120" y="4114800"/>
            <a:ext cx="2834640" cy="365760"/>
          </a:xfrm>
          <a:prstGeom prst="rect">
            <a:avLst/>
          </a:prstGeom>
          <a:noFill/>
        </p:spPr>
        <p:txBody>
          <a:bodyPr wrap="square" lIns="0" rIns="0" tIns="0">
            <a:spAutoFit/>
          </a:bodyPr>
          <a:lstStyle/>
          <a:p>
            <a:pPr>
              <a:spcAft>
                <a:spcPts val="800"/>
              </a:spcAft>
              <a:defRPr sz="1600" b="1">
                <a:solidFill>
                  <a:srgbClr val="26BEC2"/>
                </a:solidFill>
                <a:latin typeface="Arial"/>
              </a:defRPr>
            </a:pPr>
            <a:r>
              <a:t>HR 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Helps identify workforce segments for retention analysis.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32</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ATTRITION BY WORK-LIFE BALANCE</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6_attrition_by_work_life_balance.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28800"/>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Compares attrition across work-life balance ratings.</a:t>
            </a:r>
          </a:p>
        </p:txBody>
      </p:sp>
      <p:sp>
        <p:nvSpPr>
          <p:cNvPr id="12" name="TextBox 11"/>
          <p:cNvSpPr txBox="1"/>
          <p:nvPr/>
        </p:nvSpPr>
        <p:spPr>
          <a:xfrm>
            <a:off x="7818120" y="4114800"/>
            <a:ext cx="2834640" cy="365760"/>
          </a:xfrm>
          <a:prstGeom prst="rect">
            <a:avLst/>
          </a:prstGeom>
          <a:noFill/>
        </p:spPr>
        <p:txBody>
          <a:bodyPr wrap="square" lIns="0" rIns="0" tIns="0">
            <a:spAutoFit/>
          </a:bodyPr>
          <a:lstStyle/>
          <a:p>
            <a:pPr>
              <a:spcAft>
                <a:spcPts val="800"/>
              </a:spcAft>
              <a:defRPr sz="1600" b="1">
                <a:solidFill>
                  <a:srgbClr val="26BEC2"/>
                </a:solidFill>
                <a:latin typeface="Arial"/>
              </a:defRPr>
            </a:pPr>
            <a:r>
              <a:t>HR 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Helps identify workforce segments for retention analysis.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33</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ATTRITION BY OVERTIME</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7_attrition_by_overtime.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28800"/>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Shows higher attrition among employees working overtime.</a:t>
            </a:r>
          </a:p>
        </p:txBody>
      </p:sp>
      <p:sp>
        <p:nvSpPr>
          <p:cNvPr id="12" name="TextBox 11"/>
          <p:cNvSpPr txBox="1"/>
          <p:nvPr/>
        </p:nvSpPr>
        <p:spPr>
          <a:xfrm>
            <a:off x="7818120" y="4114800"/>
            <a:ext cx="2834640" cy="365760"/>
          </a:xfrm>
          <a:prstGeom prst="rect">
            <a:avLst/>
          </a:prstGeom>
          <a:noFill/>
        </p:spPr>
        <p:txBody>
          <a:bodyPr wrap="square" lIns="0" rIns="0" tIns="0">
            <a:spAutoFit/>
          </a:bodyPr>
          <a:lstStyle/>
          <a:p>
            <a:pPr>
              <a:spcAft>
                <a:spcPts val="800"/>
              </a:spcAft>
              <a:defRPr sz="1600" b="1">
                <a:solidFill>
                  <a:srgbClr val="26BEC2"/>
                </a:solidFill>
                <a:latin typeface="Arial"/>
              </a:defRPr>
            </a:pPr>
            <a:r>
              <a:t>HR 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Helps identify workforce segments for retention analysis.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34</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ATTRITION BY BUSINESS TRAVEL</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252728"/>
            <a:ext cx="6775704" cy="494690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8_attrition_by_business_travel.png"/>
          <p:cNvPicPr>
            <a:picLocks noChangeAspect="1"/>
          </p:cNvPicPr>
          <p:nvPr/>
        </p:nvPicPr>
        <p:blipFill>
          <a:blip r:embed="rId2"/>
          <a:stretch>
            <a:fillRect/>
          </a:stretch>
        </p:blipFill>
        <p:spPr>
          <a:xfrm>
            <a:off x="914400" y="1325880"/>
            <a:ext cx="6629400" cy="4800600"/>
          </a:xfrm>
          <a:prstGeom prst="rect">
            <a:avLst/>
          </a:prstGeom>
        </p:spPr>
      </p:pic>
      <p:sp>
        <p:nvSpPr>
          <p:cNvPr id="11" name="TextBox 10"/>
          <p:cNvSpPr txBox="1"/>
          <p:nvPr/>
        </p:nvSpPr>
        <p:spPr>
          <a:xfrm>
            <a:off x="7818120" y="1828800"/>
            <a:ext cx="2971800" cy="2194560"/>
          </a:xfrm>
          <a:prstGeom prst="rect">
            <a:avLst/>
          </a:prstGeom>
          <a:noFill/>
        </p:spPr>
        <p:txBody>
          <a:bodyPr wrap="square" lIns="0" rIns="0" tIns="0">
            <a:spAutoFit/>
          </a:bodyPr>
          <a:lstStyle/>
          <a:p>
            <a:pPr>
              <a:spcAft>
                <a:spcPts val="800"/>
              </a:spcAft>
              <a:defRPr sz="1600" b="0">
                <a:solidFill>
                  <a:srgbClr val="0A0A0A"/>
                </a:solidFill>
                <a:latin typeface="Arial"/>
              </a:defRPr>
            </a:pPr>
            <a:r>
              <a:t>Compares attrition across travel categories.</a:t>
            </a:r>
          </a:p>
        </p:txBody>
      </p:sp>
      <p:sp>
        <p:nvSpPr>
          <p:cNvPr id="12" name="TextBox 11"/>
          <p:cNvSpPr txBox="1"/>
          <p:nvPr/>
        </p:nvSpPr>
        <p:spPr>
          <a:xfrm>
            <a:off x="7818120" y="4114800"/>
            <a:ext cx="2834640" cy="365760"/>
          </a:xfrm>
          <a:prstGeom prst="rect">
            <a:avLst/>
          </a:prstGeom>
          <a:noFill/>
        </p:spPr>
        <p:txBody>
          <a:bodyPr wrap="square" lIns="0" rIns="0" tIns="0">
            <a:spAutoFit/>
          </a:bodyPr>
          <a:lstStyle/>
          <a:p>
            <a:pPr>
              <a:spcAft>
                <a:spcPts val="800"/>
              </a:spcAft>
              <a:defRPr sz="1600" b="1">
                <a:solidFill>
                  <a:srgbClr val="26BEC2"/>
                </a:solidFill>
                <a:latin typeface="Arial"/>
              </a:defRPr>
            </a:pPr>
            <a:r>
              <a:t>HR decision use</a:t>
            </a:r>
          </a:p>
        </p:txBody>
      </p:sp>
      <p:sp>
        <p:nvSpPr>
          <p:cNvPr id="13" name="TextBox 12"/>
          <p:cNvSpPr txBox="1"/>
          <p:nvPr/>
        </p:nvSpPr>
        <p:spPr>
          <a:xfrm>
            <a:off x="7818120" y="4572000"/>
            <a:ext cx="2926080" cy="914400"/>
          </a:xfrm>
          <a:prstGeom prst="rect">
            <a:avLst/>
          </a:prstGeom>
          <a:noFill/>
        </p:spPr>
        <p:txBody>
          <a:bodyPr wrap="square" lIns="0" rIns="0" tIns="0">
            <a:spAutoFit/>
          </a:bodyPr>
          <a:lstStyle/>
          <a:p>
            <a:pPr>
              <a:spcAft>
                <a:spcPts val="800"/>
              </a:spcAft>
              <a:defRPr sz="1500" b="0">
                <a:solidFill>
                  <a:srgbClr val="0A0A0A"/>
                </a:solidFill>
                <a:latin typeface="Arial"/>
              </a:defRPr>
            </a:pPr>
            <a:r>
              <a:t>Helps identify workforce segments for retention analysis.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35</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EXECUTIVE DASHBOARD</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325880"/>
            <a:ext cx="4389120" cy="4572000"/>
          </a:xfrm>
          <a:prstGeom prst="rect">
            <a:avLst/>
          </a:prstGeom>
          <a:noFill/>
        </p:spPr>
        <p:txBody>
          <a:bodyPr wrap="square">
            <a:spAutoFit/>
          </a:bodyPr>
          <a:lstStyle/>
          <a:p>
            <a:pPr>
              <a:spcAft>
                <a:spcPts val="900"/>
              </a:spcAft>
              <a:defRPr sz="1600">
                <a:solidFill>
                  <a:srgbClr val="0A0A0A"/>
                </a:solidFill>
                <a:latin typeface="Arial"/>
              </a:defRPr>
            </a:pPr>
            <a:r>
              <a:t>• KPI cards for workforce monitoring</a:t>
            </a:r>
          </a:p>
          <a:p>
            <a:pPr>
              <a:spcAft>
                <a:spcPts val="900"/>
              </a:spcAft>
              <a:defRPr sz="1600">
                <a:solidFill>
                  <a:srgbClr val="0A0A0A"/>
                </a:solidFill>
                <a:latin typeface="Arial"/>
              </a:defRPr>
            </a:pPr>
            <a:r>
              <a:t>• Filters: Department, Job Role, Gender, Age Group</a:t>
            </a:r>
          </a:p>
          <a:p>
            <a:pPr>
              <a:spcAft>
                <a:spcPts val="900"/>
              </a:spcAft>
              <a:defRPr sz="1600">
                <a:solidFill>
                  <a:srgbClr val="0A0A0A"/>
                </a:solidFill>
                <a:latin typeface="Arial"/>
              </a:defRPr>
            </a:pPr>
            <a:r>
              <a:t>• Filters: Overtime and Business Travel</a:t>
            </a:r>
          </a:p>
          <a:p>
            <a:pPr>
              <a:spcAft>
                <a:spcPts val="900"/>
              </a:spcAft>
              <a:defRPr sz="1600">
                <a:solidFill>
                  <a:srgbClr val="0A0A0A"/>
                </a:solidFill>
                <a:latin typeface="Arial"/>
              </a:defRPr>
            </a:pPr>
            <a:r>
              <a:t>• Department → Job Role drill-down prototype</a:t>
            </a:r>
          </a:p>
          <a:p>
            <a:pPr>
              <a:spcAft>
                <a:spcPts val="900"/>
              </a:spcAft>
              <a:defRPr sz="1600">
                <a:solidFill>
                  <a:srgbClr val="0A0A0A"/>
                </a:solidFill>
                <a:latin typeface="Arial"/>
              </a:defRPr>
            </a:pPr>
            <a:r>
              <a:t>• Executive risk signals and decision-oriented recommendations</a:t>
            </a:r>
          </a:p>
        </p:txBody>
      </p:sp>
      <p:sp>
        <p:nvSpPr>
          <p:cNvPr id="10" name="Rounded Rectangle 9"/>
          <p:cNvSpPr/>
          <p:nvPr/>
        </p:nvSpPr>
        <p:spPr>
          <a:xfrm>
            <a:off x="5367528" y="1161288"/>
            <a:ext cx="5815584" cy="4855464"/>
          </a:xfrm>
          <a:prstGeom prst="roundRect">
            <a:avLst/>
          </a:prstGeom>
          <a:solidFill>
            <a:srgbClr val="F7FCFD"/>
          </a:solidFill>
          <a:ln>
            <a:solidFill>
              <a:srgbClr val="DAEF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vanced_Interactive_Executive_Dashboard_Mockup.png"/>
          <p:cNvPicPr>
            <a:picLocks noChangeAspect="1"/>
          </p:cNvPicPr>
          <p:nvPr/>
        </p:nvPicPr>
        <p:blipFill>
          <a:blip r:embed="rId2"/>
          <a:stretch>
            <a:fillRect/>
          </a:stretch>
        </p:blipFill>
        <p:spPr>
          <a:xfrm>
            <a:off x="5440680" y="1234440"/>
            <a:ext cx="5669280" cy="470916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36</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KEY HR INSIGHTS</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371600"/>
            <a:ext cx="9601200" cy="4480560"/>
          </a:xfrm>
          <a:prstGeom prst="rect">
            <a:avLst/>
          </a:prstGeom>
          <a:noFill/>
        </p:spPr>
        <p:txBody>
          <a:bodyPr wrap="square">
            <a:spAutoFit/>
          </a:bodyPr>
          <a:lstStyle/>
          <a:p>
            <a:pPr>
              <a:spcAft>
                <a:spcPts val="900"/>
              </a:spcAft>
              <a:defRPr sz="1700">
                <a:solidFill>
                  <a:srgbClr val="0A0A0A"/>
                </a:solidFill>
                <a:latin typeface="Arial"/>
              </a:defRPr>
            </a:pPr>
            <a:r>
              <a:t>• Sales attrition: 20.63%</a:t>
            </a:r>
          </a:p>
          <a:p>
            <a:pPr>
              <a:spcAft>
                <a:spcPts val="900"/>
              </a:spcAft>
              <a:defRPr sz="1700">
                <a:solidFill>
                  <a:srgbClr val="0A0A0A"/>
                </a:solidFill>
                <a:latin typeface="Arial"/>
              </a:defRPr>
            </a:pPr>
            <a:r>
              <a:t>• Sales Representatives: 39.76%</a:t>
            </a:r>
          </a:p>
          <a:p>
            <a:pPr>
              <a:spcAft>
                <a:spcPts val="900"/>
              </a:spcAft>
              <a:defRPr sz="1700">
                <a:solidFill>
                  <a:srgbClr val="0A0A0A"/>
                </a:solidFill>
                <a:latin typeface="Arial"/>
              </a:defRPr>
            </a:pPr>
            <a:r>
              <a:t>• Under 25: 39.18%</a:t>
            </a:r>
          </a:p>
          <a:p>
            <a:pPr>
              <a:spcAft>
                <a:spcPts val="900"/>
              </a:spcAft>
              <a:defRPr sz="1700">
                <a:solidFill>
                  <a:srgbClr val="0A0A0A"/>
                </a:solidFill>
                <a:latin typeface="Arial"/>
              </a:defRPr>
            </a:pPr>
            <a:r>
              <a:t>• Overtime: 30.53%</a:t>
            </a:r>
          </a:p>
          <a:p>
            <a:pPr>
              <a:spcAft>
                <a:spcPts val="900"/>
              </a:spcAft>
              <a:defRPr sz="1700">
                <a:solidFill>
                  <a:srgbClr val="0A0A0A"/>
                </a:solidFill>
                <a:latin typeface="Arial"/>
              </a:defRPr>
            </a:pPr>
            <a:r>
              <a:t>• Low income band: 29.27%</a:t>
            </a:r>
          </a:p>
          <a:p>
            <a:pPr>
              <a:spcAft>
                <a:spcPts val="900"/>
              </a:spcAft>
              <a:defRPr sz="1700">
                <a:solidFill>
                  <a:srgbClr val="0A0A0A"/>
                </a:solidFill>
                <a:latin typeface="Arial"/>
              </a:defRPr>
            </a:pPr>
            <a:r>
              <a:t>• Frequent travel: 24.91%</a:t>
            </a:r>
          </a:p>
          <a:p>
            <a:pPr>
              <a:spcAft>
                <a:spcPts val="900"/>
              </a:spcAft>
              <a:defRPr sz="1700">
                <a:solidFill>
                  <a:srgbClr val="0A0A0A"/>
                </a:solidFill>
                <a:latin typeface="Arial"/>
              </a:defRPr>
            </a:pPr>
            <a:r>
              <a:t>• Low satisfaction and poor work-life balance are additional warning signals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37</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ADVANCED – RECOMMENDATIONS</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371600"/>
            <a:ext cx="9784080" cy="4480560"/>
          </a:xfrm>
          <a:prstGeom prst="rect">
            <a:avLst/>
          </a:prstGeom>
          <a:noFill/>
        </p:spPr>
        <p:txBody>
          <a:bodyPr wrap="square">
            <a:spAutoFit/>
          </a:bodyPr>
          <a:lstStyle/>
          <a:p>
            <a:pPr>
              <a:spcAft>
                <a:spcPts val="900"/>
              </a:spcAft>
              <a:defRPr sz="1700">
                <a:solidFill>
                  <a:srgbClr val="0A0A0A"/>
                </a:solidFill>
                <a:latin typeface="Arial"/>
              </a:defRPr>
            </a:pPr>
            <a:r>
              <a:t>• Prioritize retention programs for high-risk job roles</a:t>
            </a:r>
          </a:p>
          <a:p>
            <a:pPr>
              <a:spcAft>
                <a:spcPts val="900"/>
              </a:spcAft>
              <a:defRPr sz="1700">
                <a:solidFill>
                  <a:srgbClr val="0A0A0A"/>
                </a:solidFill>
                <a:latin typeface="Arial"/>
              </a:defRPr>
            </a:pPr>
            <a:r>
              <a:t>• Review overtime workload and staffing</a:t>
            </a:r>
          </a:p>
          <a:p>
            <a:pPr>
              <a:spcAft>
                <a:spcPts val="900"/>
              </a:spcAft>
              <a:defRPr sz="1700">
                <a:solidFill>
                  <a:srgbClr val="0A0A0A"/>
                </a:solidFill>
                <a:latin typeface="Arial"/>
              </a:defRPr>
            </a:pPr>
            <a:r>
              <a:t>• Strengthen mentoring and career development for younger employees</a:t>
            </a:r>
          </a:p>
          <a:p>
            <a:pPr>
              <a:spcAft>
                <a:spcPts val="900"/>
              </a:spcAft>
              <a:defRPr sz="1700">
                <a:solidFill>
                  <a:srgbClr val="0A0A0A"/>
                </a:solidFill>
                <a:latin typeface="Arial"/>
              </a:defRPr>
            </a:pPr>
            <a:r>
              <a:t>• Review compensation progression for lower-income groups</a:t>
            </a:r>
          </a:p>
          <a:p>
            <a:pPr>
              <a:spcAft>
                <a:spcPts val="900"/>
              </a:spcAft>
              <a:defRPr sz="1700">
                <a:solidFill>
                  <a:srgbClr val="0A0A0A"/>
                </a:solidFill>
                <a:latin typeface="Arial"/>
              </a:defRPr>
            </a:pPr>
            <a:r>
              <a:t>• Improve work-life balance and employee support</a:t>
            </a:r>
          </a:p>
          <a:p>
            <a:pPr>
              <a:spcAft>
                <a:spcPts val="900"/>
              </a:spcAft>
              <a:defRPr sz="1700">
                <a:solidFill>
                  <a:srgbClr val="0A0A0A"/>
                </a:solidFill>
                <a:latin typeface="Arial"/>
              </a:defRPr>
            </a:pPr>
            <a:r>
              <a:t>• Evaluate the burden of frequent business travel</a:t>
            </a:r>
          </a:p>
          <a:p>
            <a:pPr>
              <a:spcAft>
                <a:spcPts val="900"/>
              </a:spcAft>
              <a:defRPr sz="1700">
                <a:solidFill>
                  <a:srgbClr val="0A0A0A"/>
                </a:solidFill>
                <a:latin typeface="Arial"/>
              </a:defRPr>
            </a:pPr>
            <a:r>
              <a:t>• Use dashboard monitoring for ongoing HR decisions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38</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OVERALL SKILLS GAINED</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371600"/>
            <a:ext cx="9784080" cy="4389120"/>
          </a:xfrm>
          <a:prstGeom prst="rect">
            <a:avLst/>
          </a:prstGeom>
          <a:noFill/>
        </p:spPr>
        <p:txBody>
          <a:bodyPr wrap="square">
            <a:spAutoFit/>
          </a:bodyPr>
          <a:lstStyle/>
          <a:p>
            <a:pPr>
              <a:spcAft>
                <a:spcPts val="900"/>
              </a:spcAft>
              <a:defRPr sz="1700">
                <a:solidFill>
                  <a:srgbClr val="0A0A0A"/>
                </a:solidFill>
                <a:latin typeface="Arial"/>
              </a:defRPr>
            </a:pPr>
            <a:r>
              <a:t>• Beginner: data cleaning, KPIs, basic charts and dashboard design</a:t>
            </a:r>
          </a:p>
          <a:p>
            <a:pPr>
              <a:spcAft>
                <a:spcPts val="900"/>
              </a:spcAft>
              <a:defRPr sz="1700">
                <a:solidFill>
                  <a:srgbClr val="0A0A0A"/>
                </a:solidFill>
                <a:latin typeface="Arial"/>
              </a:defRPr>
            </a:pPr>
            <a:r>
              <a:t>• Intermediate: exploratory analysis, customer/revenue analytics and profitability insights</a:t>
            </a:r>
          </a:p>
          <a:p>
            <a:pPr>
              <a:spcAft>
                <a:spcPts val="900"/>
              </a:spcAft>
              <a:defRPr sz="1700">
                <a:solidFill>
                  <a:srgbClr val="0A0A0A"/>
                </a:solidFill>
                <a:latin typeface="Arial"/>
              </a:defRPr>
            </a:pPr>
            <a:r>
              <a:t>• Advanced: HR analytics, executive KPIs, interactive filtering, drill-down and storytelling</a:t>
            </a:r>
          </a:p>
          <a:p>
            <a:pPr>
              <a:spcAft>
                <a:spcPts val="900"/>
              </a:spcAft>
              <a:defRPr sz="1700">
                <a:solidFill>
                  <a:srgbClr val="0A0A0A"/>
                </a:solidFill>
                <a:latin typeface="Arial"/>
              </a:defRPr>
            </a:pPr>
            <a:r>
              <a:t>• Across all levels: data preparation → visualization → interpretation → recommendation</a:t>
            </a:r>
          </a:p>
          <a:p>
            <a:pPr>
              <a:spcAft>
                <a:spcPts val="900"/>
              </a:spcAft>
              <a:defRPr sz="1700">
                <a:solidFill>
                  <a:srgbClr val="0A0A0A"/>
                </a:solidFill>
                <a:latin typeface="Arial"/>
              </a:defRPr>
            </a:pPr>
            <a:r>
              <a:t>• Prepared reports, dashboards and 3-minute presentation videos for each level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39</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CONCLUSION</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508760"/>
            <a:ext cx="9692640" cy="4114800"/>
          </a:xfrm>
          <a:prstGeom prst="rect">
            <a:avLst/>
          </a:prstGeom>
          <a:noFill/>
        </p:spPr>
        <p:txBody>
          <a:bodyPr wrap="square" lIns="0" rIns="0" tIns="0">
            <a:spAutoFit/>
          </a:bodyPr>
          <a:lstStyle/>
          <a:p>
            <a:pPr>
              <a:spcAft>
                <a:spcPts val="800"/>
              </a:spcAft>
              <a:defRPr sz="1800" b="0">
                <a:solidFill>
                  <a:srgbClr val="0A0A0A"/>
                </a:solidFill>
                <a:latin typeface="Arial"/>
              </a:defRPr>
            </a:pPr>
            <a:r>
              <a:t>The three levels demonstrate a progressive Data Analytics workflow.</a:t>
            </a:r>
          </a:p>
          <a:p>
            <a:pPr>
              <a:spcAft>
                <a:spcPts val="800"/>
              </a:spcAft>
              <a:defRPr sz="1800" b="0">
                <a:solidFill>
                  <a:srgbClr val="0A0A0A"/>
                </a:solidFill>
                <a:latin typeface="Arial"/>
              </a:defRPr>
            </a:pPr>
          </a:p>
          <a:p>
            <a:pPr>
              <a:spcAft>
                <a:spcPts val="800"/>
              </a:spcAft>
              <a:defRPr sz="1800" b="0">
                <a:solidFill>
                  <a:srgbClr val="0A0A0A"/>
                </a:solidFill>
                <a:latin typeface="Arial"/>
              </a:defRPr>
            </a:pPr>
            <a:r>
              <a:t>Beginner established the fundamentals of cleaning, KPI creation, visualization and dashboards. Intermediate expanded the analysis into customers, products, regions, segments, revenue and profitability. Advanced applied the same analytical process to HR attrition and transformed the results into an executive decision-support dashboard.</a:t>
            </a:r>
          </a:p>
          <a:p>
            <a:pPr>
              <a:spcAft>
                <a:spcPts val="800"/>
              </a:spcAft>
              <a:defRPr sz="1800" b="0">
                <a:solidFill>
                  <a:srgbClr val="0A0A0A"/>
                </a:solidFill>
                <a:latin typeface="Arial"/>
              </a:defRPr>
            </a:pPr>
          </a:p>
          <a:p>
            <a:pPr>
              <a:spcAft>
                <a:spcPts val="800"/>
              </a:spcAft>
              <a:defRPr sz="1800" b="0">
                <a:solidFill>
                  <a:srgbClr val="0A0A0A"/>
                </a:solidFill>
                <a:latin typeface="Arial"/>
              </a:defRPr>
            </a:pPr>
            <a:r>
              <a:t>Overall, the projects developed practical skills in data preparation, visualization, dashboard design, business insight generation and decision-oriented storytelling.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44200" y="0"/>
            <a:ext cx="1444752" cy="347472"/>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0" y="6263640"/>
            <a:ext cx="1216152" cy="594360"/>
          </a:xfrm>
          <a:prstGeom prst="rect">
            <a:avLst/>
          </a:prstGeom>
          <a:solidFill>
            <a:srgbClr val="DAE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0936" y="2011680"/>
            <a:ext cx="13716" cy="3246120"/>
          </a:xfrm>
          <a:prstGeom prst="rect">
            <a:avLst/>
          </a:prstGeom>
          <a:solidFill>
            <a:srgbClr val="97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336792"/>
            <a:ext cx="320040" cy="228600"/>
          </a:xfrm>
          <a:prstGeom prst="rect">
            <a:avLst/>
          </a:prstGeom>
          <a:noFill/>
        </p:spPr>
        <p:txBody>
          <a:bodyPr wrap="none">
            <a:spAutoFit/>
          </a:bodyPr>
          <a:lstStyle/>
          <a:p>
            <a:pPr>
              <a:defRPr sz="1000">
                <a:solidFill>
                  <a:srgbClr val="97D3E8"/>
                </a:solidFill>
                <a:latin typeface="Arial"/>
              </a:defRPr>
            </a:pPr>
            <a:r>
              <a:t>40</a:t>
            </a:r>
          </a:p>
        </p:txBody>
      </p:sp>
      <p:sp>
        <p:nvSpPr>
          <p:cNvPr id="7" name="TextBox 6"/>
          <p:cNvSpPr txBox="1"/>
          <p:nvPr/>
        </p:nvSpPr>
        <p:spPr>
          <a:xfrm>
            <a:off x="932688" y="566928"/>
            <a:ext cx="9784080" cy="594360"/>
          </a:xfrm>
          <a:prstGeom prst="rect">
            <a:avLst/>
          </a:prstGeom>
          <a:noFill/>
        </p:spPr>
        <p:txBody>
          <a:bodyPr wrap="none">
            <a:spAutoFit/>
          </a:bodyPr>
          <a:lstStyle/>
          <a:p>
            <a:pPr>
              <a:defRPr sz="2900" b="0">
                <a:solidFill>
                  <a:srgbClr val="0A0A0A"/>
                </a:solidFill>
                <a:latin typeface="Arial"/>
              </a:defRPr>
            </a:pPr>
            <a:r>
              <a:t>THANK YOU</a:t>
            </a:r>
          </a:p>
        </p:txBody>
      </p:sp>
      <p:sp>
        <p:nvSpPr>
          <p:cNvPr id="8" name="Rectangle 7"/>
          <p:cNvSpPr/>
          <p:nvPr/>
        </p:nvSpPr>
        <p:spPr>
          <a:xfrm>
            <a:off x="960120" y="1225295"/>
            <a:ext cx="411480" cy="64008"/>
          </a:xfrm>
          <a:prstGeom prst="rect">
            <a:avLst/>
          </a:prstGeom>
          <a:solidFill>
            <a:srgbClr val="26B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2286000"/>
            <a:ext cx="6309360" cy="914400"/>
          </a:xfrm>
          <a:prstGeom prst="rect">
            <a:avLst/>
          </a:prstGeom>
          <a:noFill/>
        </p:spPr>
        <p:txBody>
          <a:bodyPr wrap="square" lIns="0" rIns="0" tIns="0">
            <a:spAutoFit/>
          </a:bodyPr>
          <a:lstStyle/>
          <a:p>
            <a:pPr>
              <a:spcAft>
                <a:spcPts val="800"/>
              </a:spcAft>
              <a:defRPr sz="4000" b="0">
                <a:solidFill>
                  <a:srgbClr val="26BEC2"/>
                </a:solidFill>
                <a:latin typeface="Arial"/>
              </a:defRPr>
            </a:pPr>
            <a:r>
              <a:t>Thank you</a:t>
            </a:r>
          </a:p>
        </p:txBody>
      </p:sp>
      <p:sp>
        <p:nvSpPr>
          <p:cNvPr id="10" name="TextBox 9"/>
          <p:cNvSpPr txBox="1"/>
          <p:nvPr/>
        </p:nvSpPr>
        <p:spPr>
          <a:xfrm>
            <a:off x="2834640" y="3246120"/>
            <a:ext cx="6492240" cy="1188720"/>
          </a:xfrm>
          <a:prstGeom prst="rect">
            <a:avLst/>
          </a:prstGeom>
          <a:noFill/>
        </p:spPr>
        <p:txBody>
          <a:bodyPr wrap="square" lIns="0" rIns="0" tIns="0">
            <a:spAutoFit/>
          </a:bodyPr>
          <a:lstStyle/>
          <a:p>
            <a:pPr>
              <a:spcAft>
                <a:spcPts val="800"/>
              </a:spcAft>
              <a:defRPr sz="2200" b="0">
                <a:solidFill>
                  <a:srgbClr val="0A0A0A"/>
                </a:solidFill>
                <a:latin typeface="Arial"/>
              </a:defRPr>
            </a:pPr>
            <a:r>
              <a:t>Data Analytics Internship</a:t>
            </a:r>
          </a:p>
          <a:p>
            <a:pPr>
              <a:spcAft>
                <a:spcPts val="800"/>
              </a:spcAft>
              <a:defRPr sz="2200" b="0">
                <a:solidFill>
                  <a:srgbClr val="0A0A0A"/>
                </a:solidFill>
                <a:latin typeface="Arial"/>
              </a:defRPr>
            </a:pPr>
            <a:r>
              <a:t>Beginner • Intermediate • Advanced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